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4"/>
  </p:sldMasterIdLst>
  <p:notesMasterIdLst>
    <p:notesMasterId r:id="rId36"/>
  </p:notesMasterIdLst>
  <p:sldIdLst>
    <p:sldId id="256" r:id="rId5"/>
    <p:sldId id="263" r:id="rId6"/>
    <p:sldId id="288" r:id="rId7"/>
    <p:sldId id="282" r:id="rId8"/>
    <p:sldId id="294" r:id="rId9"/>
    <p:sldId id="283" r:id="rId10"/>
    <p:sldId id="323" r:id="rId11"/>
    <p:sldId id="268" r:id="rId12"/>
    <p:sldId id="302" r:id="rId13"/>
    <p:sldId id="303" r:id="rId14"/>
    <p:sldId id="300" r:id="rId15"/>
    <p:sldId id="317" r:id="rId16"/>
    <p:sldId id="305" r:id="rId17"/>
    <p:sldId id="308" r:id="rId18"/>
    <p:sldId id="297" r:id="rId19"/>
    <p:sldId id="310" r:id="rId20"/>
    <p:sldId id="307" r:id="rId21"/>
    <p:sldId id="309" r:id="rId22"/>
    <p:sldId id="314" r:id="rId23"/>
    <p:sldId id="322" r:id="rId24"/>
    <p:sldId id="299" r:id="rId25"/>
    <p:sldId id="316" r:id="rId26"/>
    <p:sldId id="315" r:id="rId27"/>
    <p:sldId id="318" r:id="rId28"/>
    <p:sldId id="319" r:id="rId29"/>
    <p:sldId id="298" r:id="rId30"/>
    <p:sldId id="320" r:id="rId31"/>
    <p:sldId id="304" r:id="rId32"/>
    <p:sldId id="321" r:id="rId33"/>
    <p:sldId id="296" r:id="rId34"/>
    <p:sldId id="27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5" autoAdjust="0"/>
    <p:restoredTop sz="88741" autoAdjust="0"/>
  </p:normalViewPr>
  <p:slideViewPr>
    <p:cSldViewPr>
      <p:cViewPr varScale="1">
        <p:scale>
          <a:sx n="53" d="100"/>
          <a:sy n="53" d="100"/>
        </p:scale>
        <p:origin x="32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/>
      <dgm:spPr/>
      <dgm:t>
        <a:bodyPr/>
        <a:lstStyle/>
        <a:p>
          <a:r>
            <a:rPr lang="en-US" dirty="0"/>
            <a:t>Master Nodes: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/>
      <dgm:spPr/>
      <dgm:t>
        <a:bodyPr/>
        <a:lstStyle/>
        <a:p>
          <a:r>
            <a:rPr lang="en-US" dirty="0"/>
            <a:t>Active Master Node: </a:t>
          </a:r>
          <a:r>
            <a:rPr lang="en-US" dirty="0" err="1"/>
            <a:t>HPCxCaT</a:t>
          </a:r>
          <a:endParaRPr lang="en-US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2FFE1B1C-100E-47D3-88BA-1CDDCC5BEC52}">
      <dgm:prSet/>
      <dgm:spPr/>
      <dgm:t>
        <a:bodyPr/>
        <a:lstStyle/>
        <a:p>
          <a:r>
            <a:rPr lang="en-US" dirty="0"/>
            <a:t>Used for: </a:t>
          </a:r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4F8EAEF4-17A5-4399-8A9A-5478273C2362}">
      <dgm:prSet/>
      <dgm:spPr/>
      <dgm:t>
        <a:bodyPr/>
        <a:lstStyle/>
        <a:p>
          <a:r>
            <a:rPr lang="en-US" dirty="0" err="1"/>
            <a:t>Slurm</a:t>
          </a:r>
          <a:r>
            <a:rPr lang="en-US" dirty="0"/>
            <a:t> Workload Manager (Open-source Job Scheduling System)</a:t>
          </a:r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81448ABE-2A2E-45CE-B433-C347EBC4778B}">
      <dgm:prSet/>
      <dgm:spPr/>
      <dgm:t>
        <a:bodyPr/>
        <a:lstStyle/>
        <a:p>
          <a:r>
            <a:rPr lang="en-US" dirty="0" err="1"/>
            <a:t>xCAT</a:t>
          </a:r>
          <a:r>
            <a:rPr lang="en-US" dirty="0"/>
            <a:t>  - </a:t>
          </a:r>
          <a:r>
            <a:rPr lang="en-US" b="1" i="0" dirty="0">
              <a:solidFill>
                <a:schemeClr val="tx1"/>
              </a:solidFill>
              <a:effectLst/>
              <a:latin typeface="+mn-lt"/>
            </a:rPr>
            <a:t>Extreme Cloud Administration Toolkit, </a:t>
          </a:r>
          <a:r>
            <a:rPr lang="en-US" b="0" i="0" dirty="0">
              <a:solidFill>
                <a:schemeClr val="tx1"/>
              </a:solidFill>
              <a:effectLst/>
              <a:latin typeface="+mn-lt"/>
            </a:rPr>
            <a:t>open-source distributed computing management software developed by IBM</a:t>
          </a:r>
          <a:endParaRPr lang="en-US" dirty="0"/>
        </a:p>
      </dgm:t>
    </dgm:pt>
    <dgm:pt modelId="{68540722-E5B5-447D-ACD1-9B5660BA56FD}" type="parTrans" cxnId="{7DF45D4F-E1AC-4035-8E10-6E1C72BFA736}">
      <dgm:prSet/>
      <dgm:spPr/>
      <dgm:t>
        <a:bodyPr/>
        <a:lstStyle/>
        <a:p>
          <a:endParaRPr lang="en-US"/>
        </a:p>
      </dgm:t>
    </dgm:pt>
    <dgm:pt modelId="{FE0EB666-97AD-448C-916E-FBB575C7759C}" type="sibTrans" cxnId="{7DF45D4F-E1AC-4035-8E10-6E1C72BFA736}">
      <dgm:prSet/>
      <dgm:spPr/>
      <dgm:t>
        <a:bodyPr/>
        <a:lstStyle/>
        <a:p>
          <a:endParaRPr lang="en-US"/>
        </a:p>
      </dgm:t>
    </dgm:pt>
    <dgm:pt modelId="{B8FB09A8-B659-43EF-93A1-AD457B449E49}">
      <dgm:prSet/>
      <dgm:spPr/>
      <dgm:t>
        <a:bodyPr/>
        <a:lstStyle/>
        <a:p>
          <a:r>
            <a:rPr lang="en-US" dirty="0"/>
            <a:t>Hardware:</a:t>
          </a:r>
        </a:p>
      </dgm:t>
    </dgm:pt>
    <dgm:pt modelId="{09BB456F-E95B-4A67-9651-40715918FCCF}" type="parTrans" cxnId="{2D913971-96FC-475C-8199-598BC99774F1}">
      <dgm:prSet/>
      <dgm:spPr/>
      <dgm:t>
        <a:bodyPr/>
        <a:lstStyle/>
        <a:p>
          <a:endParaRPr lang="en-US"/>
        </a:p>
      </dgm:t>
    </dgm:pt>
    <dgm:pt modelId="{CC7C7F38-F715-4AFC-8815-0447256871E4}" type="sibTrans" cxnId="{2D913971-96FC-475C-8199-598BC99774F1}">
      <dgm:prSet/>
      <dgm:spPr/>
      <dgm:t>
        <a:bodyPr/>
        <a:lstStyle/>
        <a:p>
          <a:endParaRPr lang="en-US"/>
        </a:p>
      </dgm:t>
    </dgm:pt>
    <dgm:pt modelId="{A3C2811F-7756-408D-ABC9-3ACA4CDD4B5D}">
      <dgm:prSet/>
      <dgm:spPr/>
      <dgm:t>
        <a:bodyPr/>
        <a:lstStyle/>
        <a:p>
          <a:r>
            <a:rPr lang="en-US"/>
            <a:t>2 nodes x Dell R630</a:t>
          </a:r>
        </a:p>
      </dgm:t>
    </dgm:pt>
    <dgm:pt modelId="{51B6119E-7837-4BC4-A857-A2826567002B}" type="parTrans" cxnId="{65F26074-C87C-429B-8191-B5ED18FB0682}">
      <dgm:prSet/>
      <dgm:spPr/>
      <dgm:t>
        <a:bodyPr/>
        <a:lstStyle/>
        <a:p>
          <a:endParaRPr lang="en-US"/>
        </a:p>
      </dgm:t>
    </dgm:pt>
    <dgm:pt modelId="{9958B4EA-CFAC-46B1-9BDF-7F63E8A6280A}" type="sibTrans" cxnId="{65F26074-C87C-429B-8191-B5ED18FB0682}">
      <dgm:prSet/>
      <dgm:spPr/>
      <dgm:t>
        <a:bodyPr/>
        <a:lstStyle/>
        <a:p>
          <a:endParaRPr lang="en-US"/>
        </a:p>
      </dgm:t>
    </dgm:pt>
    <dgm:pt modelId="{A6E0E350-41FE-4CE4-AAB5-93CED0D86F70}">
      <dgm:prSet/>
      <dgm:spPr/>
      <dgm:t>
        <a:bodyPr/>
        <a:lstStyle/>
        <a:p>
          <a:r>
            <a:rPr lang="en-US" dirty="0"/>
            <a:t>56CPU / 256 GB Memory</a:t>
          </a:r>
        </a:p>
      </dgm:t>
    </dgm:pt>
    <dgm:pt modelId="{5131173C-CEFE-4B27-BE72-BE5B17475549}" type="parTrans" cxnId="{F5AA2B90-3BA7-4045-8EF9-B8F514DED494}">
      <dgm:prSet/>
      <dgm:spPr/>
      <dgm:t>
        <a:bodyPr/>
        <a:lstStyle/>
        <a:p>
          <a:endParaRPr lang="en-US"/>
        </a:p>
      </dgm:t>
    </dgm:pt>
    <dgm:pt modelId="{36E4EA6B-9844-40BE-99C7-0C8A88DEC940}" type="sibTrans" cxnId="{F5AA2B90-3BA7-4045-8EF9-B8F514DED494}">
      <dgm:prSet/>
      <dgm:spPr/>
      <dgm:t>
        <a:bodyPr/>
        <a:lstStyle/>
        <a:p>
          <a:endParaRPr lang="en-US"/>
        </a:p>
      </dgm:t>
    </dgm:pt>
    <dgm:pt modelId="{F6F696BE-4BD4-487E-ACCC-69241D048D80}">
      <dgm:prSet/>
      <dgm:spPr/>
      <dgm:t>
        <a:bodyPr/>
        <a:lstStyle/>
        <a:p>
          <a:r>
            <a:rPr lang="en-US" dirty="0"/>
            <a:t>Current OS installed </a:t>
          </a:r>
        </a:p>
        <a:p>
          <a:r>
            <a:rPr lang="en-US" dirty="0"/>
            <a:t>same configuration on both nodes</a:t>
          </a:r>
        </a:p>
      </dgm:t>
    </dgm:pt>
    <dgm:pt modelId="{A0D99017-2F5B-42CE-B3DF-C699984B3617}" type="parTrans" cxnId="{0AA2E64B-C70D-4ACF-8623-972DE8D58306}">
      <dgm:prSet/>
      <dgm:spPr/>
      <dgm:t>
        <a:bodyPr/>
        <a:lstStyle/>
        <a:p>
          <a:endParaRPr lang="en-US"/>
        </a:p>
      </dgm:t>
    </dgm:pt>
    <dgm:pt modelId="{1CEDECD4-C801-4754-A06C-105B61C01FAE}" type="sibTrans" cxnId="{0AA2E64B-C70D-4ACF-8623-972DE8D58306}">
      <dgm:prSet/>
      <dgm:spPr/>
      <dgm:t>
        <a:bodyPr/>
        <a:lstStyle/>
        <a:p>
          <a:endParaRPr lang="en-US"/>
        </a:p>
      </dgm:t>
    </dgm:pt>
    <dgm:pt modelId="{CC5FBCC3-14BC-47ED-92DD-8BA0E6F97473}">
      <dgm:prSet/>
      <dgm:spPr/>
      <dgm:t>
        <a:bodyPr/>
        <a:lstStyle/>
        <a:p>
          <a:r>
            <a:rPr lang="en-US" dirty="0"/>
            <a:t>Currently running CentOS7.8 (64bit) across the cluster</a:t>
          </a:r>
        </a:p>
      </dgm:t>
    </dgm:pt>
    <dgm:pt modelId="{854F67B6-AE4A-48FF-A7B8-5B7FCA126021}" type="parTrans" cxnId="{2686FC69-7F0A-404F-B3A2-C66381FDF323}">
      <dgm:prSet/>
      <dgm:spPr/>
      <dgm:t>
        <a:bodyPr/>
        <a:lstStyle/>
        <a:p>
          <a:endParaRPr lang="en-US"/>
        </a:p>
      </dgm:t>
    </dgm:pt>
    <dgm:pt modelId="{17AB62CA-A197-4665-9E1C-E0328AA6D40A}" type="sibTrans" cxnId="{2686FC69-7F0A-404F-B3A2-C66381FDF323}">
      <dgm:prSet/>
      <dgm:spPr/>
      <dgm:t>
        <a:bodyPr/>
        <a:lstStyle/>
        <a:p>
          <a:endParaRPr lang="en-US"/>
        </a:p>
      </dgm:t>
    </dgm:pt>
    <dgm:pt modelId="{65355751-D7D9-4980-8E18-DF673523A9BD}">
      <dgm:prSet/>
      <dgm:spPr/>
      <dgm:t>
        <a:bodyPr/>
        <a:lstStyle/>
        <a:p>
          <a:r>
            <a:rPr lang="en-US" dirty="0"/>
            <a:t>One Local Partition: / (420 GB)</a:t>
          </a:r>
        </a:p>
      </dgm:t>
    </dgm:pt>
    <dgm:pt modelId="{7A2087E3-63DE-4E19-B384-EE8D95B96F7E}" type="parTrans" cxnId="{C3015486-4315-4122-ABD1-6B4EA6684035}">
      <dgm:prSet/>
      <dgm:spPr/>
      <dgm:t>
        <a:bodyPr/>
        <a:lstStyle/>
        <a:p>
          <a:endParaRPr lang="en-US"/>
        </a:p>
      </dgm:t>
    </dgm:pt>
    <dgm:pt modelId="{2E1C4CDB-72CF-4E3D-AD8C-F8E162D7185F}" type="sibTrans" cxnId="{C3015486-4315-4122-ABD1-6B4EA6684035}">
      <dgm:prSet/>
      <dgm:spPr/>
      <dgm:t>
        <a:bodyPr/>
        <a:lstStyle/>
        <a:p>
          <a:endParaRPr lang="en-US"/>
        </a:p>
      </dgm:t>
    </dgm:pt>
    <dgm:pt modelId="{057D3418-EE8C-4FEF-92C3-4E8DD4482B1E}">
      <dgm:prSet/>
      <dgm:spPr/>
      <dgm:t>
        <a:bodyPr/>
        <a:lstStyle/>
        <a:p>
          <a:r>
            <a:rPr lang="en-US" dirty="0"/>
            <a:t>Additional mounts come from the </a:t>
          </a:r>
          <a:r>
            <a:rPr lang="en-US" dirty="0" err="1"/>
            <a:t>Lustre</a:t>
          </a:r>
          <a:r>
            <a:rPr lang="en-US" dirty="0"/>
            <a:t> FS: /home &amp; /scratch</a:t>
          </a:r>
        </a:p>
      </dgm:t>
    </dgm:pt>
    <dgm:pt modelId="{DA74BA4B-27D0-4072-B383-A0F2621710D4}" type="parTrans" cxnId="{1708FC53-ADD6-4F4C-9718-1110FD550E89}">
      <dgm:prSet/>
      <dgm:spPr/>
      <dgm:t>
        <a:bodyPr/>
        <a:lstStyle/>
        <a:p>
          <a:endParaRPr lang="en-US"/>
        </a:p>
      </dgm:t>
    </dgm:pt>
    <dgm:pt modelId="{AE8A2E20-B5AD-42A6-9906-3B1A977A9AD7}" type="sibTrans" cxnId="{1708FC53-ADD6-4F4C-9718-1110FD550E89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4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4" custLinFactNeighborX="1416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4" custLinFactNeighborX="796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4" custLinFactNeighborY="0">
        <dgm:presLayoutVars>
          <dgm:bulletEnabled val="1"/>
        </dgm:presLayoutVars>
      </dgm:prSet>
      <dgm:spPr/>
    </dgm:pt>
    <dgm:pt modelId="{5924C741-6BF3-459E-A312-20B09B313EA9}" type="pres">
      <dgm:prSet presAssocID="{AED717CD-4D69-4F26-A47B-11E26DEDD98E}" presName="sp" presStyleCnt="0"/>
      <dgm:spPr/>
    </dgm:pt>
    <dgm:pt modelId="{41D4F151-3CA9-491A-9AE0-D0550D23BE25}" type="pres">
      <dgm:prSet presAssocID="{B8FB09A8-B659-43EF-93A1-AD457B449E49}" presName="linNode" presStyleCnt="0"/>
      <dgm:spPr/>
    </dgm:pt>
    <dgm:pt modelId="{FC80CDE6-027D-47C6-BBF2-ED852AD2B59D}" type="pres">
      <dgm:prSet presAssocID="{B8FB09A8-B659-43EF-93A1-AD457B449E49}" presName="parentText" presStyleLbl="node1" presStyleIdx="2" presStyleCnt="4" custLinFactNeighborX="796">
        <dgm:presLayoutVars>
          <dgm:chMax val="1"/>
          <dgm:bulletEnabled val="1"/>
        </dgm:presLayoutVars>
      </dgm:prSet>
      <dgm:spPr/>
    </dgm:pt>
    <dgm:pt modelId="{137025DC-D6D2-40E5-91EC-24995067F051}" type="pres">
      <dgm:prSet presAssocID="{B8FB09A8-B659-43EF-93A1-AD457B449E49}" presName="descendantText" presStyleLbl="alignAccFollowNode1" presStyleIdx="2" presStyleCnt="4" custLinFactNeighborX="1416">
        <dgm:presLayoutVars>
          <dgm:bulletEnabled val="1"/>
        </dgm:presLayoutVars>
      </dgm:prSet>
      <dgm:spPr/>
    </dgm:pt>
    <dgm:pt modelId="{613FF00F-F0EE-402A-83B3-6EEC60DD767F}" type="pres">
      <dgm:prSet presAssocID="{CC7C7F38-F715-4AFC-8815-0447256871E4}" presName="sp" presStyleCnt="0"/>
      <dgm:spPr/>
    </dgm:pt>
    <dgm:pt modelId="{91081C6E-C2F7-4F4C-A9E0-9849611B392F}" type="pres">
      <dgm:prSet presAssocID="{F6F696BE-4BD4-487E-ACCC-69241D048D80}" presName="linNode" presStyleCnt="0"/>
      <dgm:spPr/>
    </dgm:pt>
    <dgm:pt modelId="{E7EB1981-91E8-4641-AEFE-E2CFEDBC290C}" type="pres">
      <dgm:prSet presAssocID="{F6F696BE-4BD4-487E-ACCC-69241D048D80}" presName="parentText" presStyleLbl="node1" presStyleIdx="3" presStyleCnt="4" custLinFactNeighborX="796">
        <dgm:presLayoutVars>
          <dgm:chMax val="1"/>
          <dgm:bulletEnabled val="1"/>
        </dgm:presLayoutVars>
      </dgm:prSet>
      <dgm:spPr/>
    </dgm:pt>
    <dgm:pt modelId="{D3E72ADE-0511-49BC-BD88-AE34AF7ED5A2}" type="pres">
      <dgm:prSet presAssocID="{F6F696BE-4BD4-487E-ACCC-69241D048D80}" presName="descendantText" presStyleLbl="alignAccFollowNode1" presStyleIdx="3" presStyleCnt="4" custScaleY="121054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B9F1611-0793-498D-969A-61C5344BA43E}" type="presOf" srcId="{B8FB09A8-B659-43EF-93A1-AD457B449E49}" destId="{FC80CDE6-027D-47C6-BBF2-ED852AD2B59D}" srcOrd="0" destOrd="0" presId="urn:microsoft.com/office/officeart/2005/8/layout/vList5"/>
    <dgm:cxn modelId="{5D26DA11-4F45-4D7F-BE9B-F922F9B800A7}" type="presOf" srcId="{81448ABE-2A2E-45CE-B433-C347EBC4778B}" destId="{7CF1B421-46CD-4E66-BEDF-16A773CDC532}" srcOrd="0" destOrd="1" presId="urn:microsoft.com/office/officeart/2005/8/layout/vList5"/>
    <dgm:cxn modelId="{BB915620-3065-4179-9F0A-5119F8F6E090}" type="presOf" srcId="{A6E0E350-41FE-4CE4-AAB5-93CED0D86F70}" destId="{137025DC-D6D2-40E5-91EC-24995067F051}" srcOrd="0" destOrd="1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32961E47-5B94-4D67-BFF5-0A6D4A99F926}" type="presOf" srcId="{057D3418-EE8C-4FEF-92C3-4E8DD4482B1E}" destId="{D3E72ADE-0511-49BC-BD88-AE34AF7ED5A2}" srcOrd="0" destOrd="2" presId="urn:microsoft.com/office/officeart/2005/8/layout/vList5"/>
    <dgm:cxn modelId="{B57B3468-4408-4A4C-B020-34BEB73E3ECE}" type="presOf" srcId="{CC5FBCC3-14BC-47ED-92DD-8BA0E6F97473}" destId="{D3E72ADE-0511-49BC-BD88-AE34AF7ED5A2}" srcOrd="0" destOrd="0" presId="urn:microsoft.com/office/officeart/2005/8/layout/vList5"/>
    <dgm:cxn modelId="{2686FC69-7F0A-404F-B3A2-C66381FDF323}" srcId="{F6F696BE-4BD4-487E-ACCC-69241D048D80}" destId="{CC5FBCC3-14BC-47ED-92DD-8BA0E6F97473}" srcOrd="0" destOrd="0" parTransId="{854F67B6-AE4A-48FF-A7B8-5B7FCA126021}" sibTransId="{17AB62CA-A197-4665-9E1C-E0328AA6D40A}"/>
    <dgm:cxn modelId="{0AA2E64B-C70D-4ACF-8623-972DE8D58306}" srcId="{27C4D8DE-FDBB-4A85-972C-FFDD2691CF27}" destId="{F6F696BE-4BD4-487E-ACCC-69241D048D80}" srcOrd="3" destOrd="0" parTransId="{A0D99017-2F5B-42CE-B3DF-C699984B3617}" sibTransId="{1CEDECD4-C801-4754-A06C-105B61C01FAE}"/>
    <dgm:cxn modelId="{8FAB426D-D741-4FC3-9477-ACEF93A5DACF}" type="presOf" srcId="{65355751-D7D9-4980-8E18-DF673523A9BD}" destId="{D3E72ADE-0511-49BC-BD88-AE34AF7ED5A2}" srcOrd="0" destOrd="1" presId="urn:microsoft.com/office/officeart/2005/8/layout/vList5"/>
    <dgm:cxn modelId="{7DF45D4F-E1AC-4035-8E10-6E1C72BFA736}" srcId="{2FFE1B1C-100E-47D3-88BA-1CDDCC5BEC52}" destId="{81448ABE-2A2E-45CE-B433-C347EBC4778B}" srcOrd="1" destOrd="0" parTransId="{68540722-E5B5-447D-ACD1-9B5660BA56FD}" sibTransId="{FE0EB666-97AD-448C-916E-FBB575C7759C}"/>
    <dgm:cxn modelId="{2D913971-96FC-475C-8199-598BC99774F1}" srcId="{27C4D8DE-FDBB-4A85-972C-FFDD2691CF27}" destId="{B8FB09A8-B659-43EF-93A1-AD457B449E49}" srcOrd="2" destOrd="0" parTransId="{09BB456F-E95B-4A67-9651-40715918FCCF}" sibTransId="{CC7C7F38-F715-4AFC-8815-0447256871E4}"/>
    <dgm:cxn modelId="{1708FC53-ADD6-4F4C-9718-1110FD550E89}" srcId="{F6F696BE-4BD4-487E-ACCC-69241D048D80}" destId="{057D3418-EE8C-4FEF-92C3-4E8DD4482B1E}" srcOrd="2" destOrd="0" parTransId="{DA74BA4B-27D0-4072-B383-A0F2621710D4}" sibTransId="{AE8A2E20-B5AD-42A6-9906-3B1A977A9AD7}"/>
    <dgm:cxn modelId="{65F26074-C87C-429B-8191-B5ED18FB0682}" srcId="{B8FB09A8-B659-43EF-93A1-AD457B449E49}" destId="{A3C2811F-7756-408D-ABC9-3ACA4CDD4B5D}" srcOrd="0" destOrd="0" parTransId="{51B6119E-7837-4BC4-A857-A2826567002B}" sibTransId="{9958B4EA-CFAC-46B1-9BDF-7F63E8A6280A}"/>
    <dgm:cxn modelId="{E3FB2E7B-1FED-4694-AF32-2789D8D15C3C}" type="presOf" srcId="{F6F696BE-4BD4-487E-ACCC-69241D048D80}" destId="{E7EB1981-91E8-4641-AEFE-E2CFEDBC290C}" srcOrd="0" destOrd="0" presId="urn:microsoft.com/office/officeart/2005/8/layout/vList5"/>
    <dgm:cxn modelId="{C3015486-4315-4122-ABD1-6B4EA6684035}" srcId="{F6F696BE-4BD4-487E-ACCC-69241D048D80}" destId="{65355751-D7D9-4980-8E18-DF673523A9BD}" srcOrd="1" destOrd="0" parTransId="{7A2087E3-63DE-4E19-B384-EE8D95B96F7E}" sibTransId="{2E1C4CDB-72CF-4E3D-AD8C-F8E162D7185F}"/>
    <dgm:cxn modelId="{F5AA2B90-3BA7-4045-8EF9-B8F514DED494}" srcId="{B8FB09A8-B659-43EF-93A1-AD457B449E49}" destId="{A6E0E350-41FE-4CE4-AAB5-93CED0D86F70}" srcOrd="1" destOrd="0" parTransId="{5131173C-CEFE-4B27-BE72-BE5B17475549}" sibTransId="{36E4EA6B-9844-40BE-99C7-0C8A88DEC940}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0C52DFBA-F1CF-4207-AFF7-534B9F4F126E}" type="presOf" srcId="{A3C2811F-7756-408D-ABC9-3ACA4CDD4B5D}" destId="{137025DC-D6D2-40E5-91EC-24995067F051}" srcOrd="0" destOrd="0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  <dgm:cxn modelId="{8FFBC4D0-9C1E-4213-B641-A315C01A4535}" type="presParOf" srcId="{0D36E049-389F-426D-960B-E992B5713C1F}" destId="{5924C741-6BF3-459E-A312-20B09B313EA9}" srcOrd="3" destOrd="0" presId="urn:microsoft.com/office/officeart/2005/8/layout/vList5"/>
    <dgm:cxn modelId="{608DA78B-B39E-4A47-A311-CC106B1A6E23}" type="presParOf" srcId="{0D36E049-389F-426D-960B-E992B5713C1F}" destId="{41D4F151-3CA9-491A-9AE0-D0550D23BE25}" srcOrd="4" destOrd="0" presId="urn:microsoft.com/office/officeart/2005/8/layout/vList5"/>
    <dgm:cxn modelId="{6FBB3BB8-F2F9-4B35-847A-5213776D9801}" type="presParOf" srcId="{41D4F151-3CA9-491A-9AE0-D0550D23BE25}" destId="{FC80CDE6-027D-47C6-BBF2-ED852AD2B59D}" srcOrd="0" destOrd="0" presId="urn:microsoft.com/office/officeart/2005/8/layout/vList5"/>
    <dgm:cxn modelId="{32A440B4-1DC0-47A5-9792-1268E18404A6}" type="presParOf" srcId="{41D4F151-3CA9-491A-9AE0-D0550D23BE25}" destId="{137025DC-D6D2-40E5-91EC-24995067F051}" srcOrd="1" destOrd="0" presId="urn:microsoft.com/office/officeart/2005/8/layout/vList5"/>
    <dgm:cxn modelId="{EF1DE5B5-C483-45D2-938A-70915DD746EF}" type="presParOf" srcId="{0D36E049-389F-426D-960B-E992B5713C1F}" destId="{613FF00F-F0EE-402A-83B3-6EEC60DD767F}" srcOrd="5" destOrd="0" presId="urn:microsoft.com/office/officeart/2005/8/layout/vList5"/>
    <dgm:cxn modelId="{BD875997-B52E-41DB-BDEC-550BD790B695}" type="presParOf" srcId="{0D36E049-389F-426D-960B-E992B5713C1F}" destId="{91081C6E-C2F7-4F4C-A9E0-9849611B392F}" srcOrd="6" destOrd="0" presId="urn:microsoft.com/office/officeart/2005/8/layout/vList5"/>
    <dgm:cxn modelId="{F791D187-58AC-4E7D-A590-09C9C9458747}" type="presParOf" srcId="{91081C6E-C2F7-4F4C-A9E0-9849611B392F}" destId="{E7EB1981-91E8-4641-AEFE-E2CFEDBC290C}" srcOrd="0" destOrd="0" presId="urn:microsoft.com/office/officeart/2005/8/layout/vList5"/>
    <dgm:cxn modelId="{179B4E16-153E-4A22-B874-0E2F07AACACE}" type="presParOf" srcId="{91081C6E-C2F7-4F4C-A9E0-9849611B392F}" destId="{D3E72ADE-0511-49BC-BD88-AE34AF7ED5A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u="none" dirty="0">
              <a:solidFill>
                <a:schemeClr val="bg1"/>
              </a:solidFill>
            </a:rPr>
            <a:t>Role of </a:t>
          </a:r>
          <a:r>
            <a:rPr lang="en-US" sz="1700" u="none" dirty="0" err="1">
              <a:solidFill>
                <a:schemeClr val="bg1"/>
              </a:solidFill>
            </a:rPr>
            <a:t>xCAT</a:t>
          </a:r>
          <a:r>
            <a:rPr lang="en-US" sz="1700" u="none" dirty="0">
              <a:solidFill>
                <a:schemeClr val="bg1"/>
              </a:solidFill>
            </a:rPr>
            <a:t> -</a:t>
          </a:r>
        </a:p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Remotely Manage Systems: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964FD7D4-4E15-49E9-AE2F-DD88013884BC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Remotely manage systems via ILO/DRAC</a:t>
          </a:r>
        </a:p>
      </dgm:t>
    </dgm:pt>
    <dgm:pt modelId="{1E2D93FA-D951-4F98-953D-B003CB7BFAE2}" type="parTrans" cxnId="{1B25215C-622F-4A1E-98C8-4A0CDF6995FB}">
      <dgm:prSet/>
      <dgm:spPr/>
      <dgm:t>
        <a:bodyPr/>
        <a:lstStyle/>
        <a:p>
          <a:endParaRPr lang="en-US"/>
        </a:p>
      </dgm:t>
    </dgm:pt>
    <dgm:pt modelId="{E761CFFC-9A22-4433-900E-6F40DF17B50D}" type="sibTrans" cxnId="{1B25215C-622F-4A1E-98C8-4A0CDF6995FB}">
      <dgm:prSet/>
      <dgm:spPr/>
      <dgm:t>
        <a:bodyPr/>
        <a:lstStyle/>
        <a:p>
          <a:endParaRPr lang="en-US"/>
        </a:p>
      </dgm:t>
    </dgm:pt>
    <dgm:pt modelId="{244B9764-F806-4741-9A34-6A9C45F8EE02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OS provisioning: login/compute nodes (CentOS 7 x64bit) in parallel (diskful, diskless) via PXE boot</a:t>
          </a:r>
        </a:p>
      </dgm:t>
    </dgm:pt>
    <dgm:pt modelId="{CAE4CAEF-30B4-4506-ACEC-3D5EA4C1D676}" type="parTrans" cxnId="{9E6B1F54-4447-4E66-ABCC-E585A0519A95}">
      <dgm:prSet/>
      <dgm:spPr/>
      <dgm:t>
        <a:bodyPr/>
        <a:lstStyle/>
        <a:p>
          <a:endParaRPr lang="en-US"/>
        </a:p>
      </dgm:t>
    </dgm:pt>
    <dgm:pt modelId="{E233A6E1-24A1-49AB-9A3C-51F3E18D86BB}" type="sibTrans" cxnId="{9E6B1F54-4447-4E66-ABCC-E585A0519A95}">
      <dgm:prSet/>
      <dgm:spPr/>
      <dgm:t>
        <a:bodyPr/>
        <a:lstStyle/>
        <a:p>
          <a:endParaRPr lang="en-US"/>
        </a:p>
      </dgm:t>
    </dgm:pt>
    <dgm:pt modelId="{35F9B370-B35F-480D-889D-8AAA2205F25A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Control and maintain servers’ RPMs, configuration files in parallel via postscripts, initiate remote commands</a:t>
          </a:r>
        </a:p>
      </dgm:t>
    </dgm:pt>
    <dgm:pt modelId="{32CD965F-6BF1-49B7-9800-6AA38FAD25D2}" type="parTrans" cxnId="{1709E061-0A37-4173-8B95-817B4BDABAF7}">
      <dgm:prSet/>
      <dgm:spPr/>
      <dgm:t>
        <a:bodyPr/>
        <a:lstStyle/>
        <a:p>
          <a:endParaRPr lang="en-US"/>
        </a:p>
      </dgm:t>
    </dgm:pt>
    <dgm:pt modelId="{664B102C-3D44-4A07-9013-A226DFB2B389}" type="sibTrans" cxnId="{1709E061-0A37-4173-8B95-817B4BDABAF7}">
      <dgm:prSet/>
      <dgm:spPr/>
      <dgm:t>
        <a:bodyPr/>
        <a:lstStyle/>
        <a:p>
          <a:endParaRPr lang="en-US"/>
        </a:p>
      </dgm:t>
    </dgm:pt>
    <dgm:pt modelId="{E07604EC-229E-4FBE-9F59-C1EE46CD116D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Uses additional services for provisioning OS:</a:t>
          </a:r>
        </a:p>
      </dgm:t>
    </dgm:pt>
    <dgm:pt modelId="{E6547E7D-B5AD-4C07-B70C-B07D56CAA570}" type="parTrans" cxnId="{096AB7C5-44FC-4521-918D-24B4A87A3E17}">
      <dgm:prSet/>
      <dgm:spPr/>
      <dgm:t>
        <a:bodyPr/>
        <a:lstStyle/>
        <a:p>
          <a:endParaRPr lang="en-US"/>
        </a:p>
      </dgm:t>
    </dgm:pt>
    <dgm:pt modelId="{BE8B2EC0-3CD4-4E38-B791-8300A5DBEB55}" type="sibTrans" cxnId="{096AB7C5-44FC-4521-918D-24B4A87A3E17}">
      <dgm:prSet/>
      <dgm:spPr/>
      <dgm:t>
        <a:bodyPr/>
        <a:lstStyle/>
        <a:p>
          <a:endParaRPr lang="en-US"/>
        </a:p>
      </dgm:t>
    </dgm:pt>
    <dgm:pt modelId="{BB75ECBB-A3D1-496C-9378-FA02F8A2693B}">
      <dgm:prSet custT="1"/>
      <dgm:spPr/>
      <dgm:t>
        <a:bodyPr/>
        <a:lstStyle/>
        <a:p>
          <a:pPr algn="l">
            <a:buNone/>
          </a:pPr>
          <a:r>
            <a:rPr lang="en-US" sz="1400" dirty="0"/>
            <a:t>-TFTP (load OS via PXE boot)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642B3B36-2BD8-4A14-A027-9AD25C797DC0}" type="parTrans" cxnId="{5776DE85-D33A-4AC5-8DA6-48ABC277FE16}">
      <dgm:prSet/>
      <dgm:spPr/>
      <dgm:t>
        <a:bodyPr/>
        <a:lstStyle/>
        <a:p>
          <a:endParaRPr lang="en-US"/>
        </a:p>
      </dgm:t>
    </dgm:pt>
    <dgm:pt modelId="{B03E55CF-894F-4688-878C-A777D90B1457}" type="sibTrans" cxnId="{5776DE85-D33A-4AC5-8DA6-48ABC277FE16}">
      <dgm:prSet/>
      <dgm:spPr/>
      <dgm:t>
        <a:bodyPr/>
        <a:lstStyle/>
        <a:p>
          <a:endParaRPr lang="en-US"/>
        </a:p>
      </dgm:t>
    </dgm:pt>
    <dgm:pt modelId="{65795A54-260A-4687-B302-1E8EB3D3EF20}">
      <dgm:prSet custT="1"/>
      <dgm:spPr/>
      <dgm:t>
        <a:bodyPr/>
        <a:lstStyle/>
        <a:p>
          <a:pPr algn="l">
            <a:buNone/>
          </a:pPr>
          <a:r>
            <a:rPr lang="en-US" sz="1400" dirty="0"/>
            <a:t>-DNS (name resolution in the roary.net domain)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8AC89F83-4362-4127-8DDB-FC79B5631F38}" type="parTrans" cxnId="{B7BB3095-0279-452E-8D60-07EC44FF726E}">
      <dgm:prSet/>
      <dgm:spPr/>
      <dgm:t>
        <a:bodyPr/>
        <a:lstStyle/>
        <a:p>
          <a:endParaRPr lang="en-US"/>
        </a:p>
      </dgm:t>
    </dgm:pt>
    <dgm:pt modelId="{1A623FE0-2B38-4DE3-BEBE-B53DE7FC6F3C}" type="sibTrans" cxnId="{B7BB3095-0279-452E-8D60-07EC44FF726E}">
      <dgm:prSet/>
      <dgm:spPr/>
      <dgm:t>
        <a:bodyPr/>
        <a:lstStyle/>
        <a:p>
          <a:endParaRPr lang="en-US"/>
        </a:p>
      </dgm:t>
    </dgm:pt>
    <dgm:pt modelId="{AC6CF52F-10F6-4952-A91C-31E99456DB8D}">
      <dgm:prSet custT="1"/>
      <dgm:spPr/>
      <dgm:t>
        <a:bodyPr/>
        <a:lstStyle/>
        <a:p>
          <a:pPr algn="l">
            <a:buNone/>
          </a:pPr>
          <a:r>
            <a:rPr lang="en-US" sz="1400" dirty="0"/>
            <a:t>-DHCP (IP assignment with MAC)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293141D2-3365-4F09-ACC5-AFDF05996370}" type="parTrans" cxnId="{08B7C0D5-60BD-472E-8475-00FF265D8139}">
      <dgm:prSet/>
      <dgm:spPr/>
      <dgm:t>
        <a:bodyPr/>
        <a:lstStyle/>
        <a:p>
          <a:endParaRPr lang="en-US"/>
        </a:p>
      </dgm:t>
    </dgm:pt>
    <dgm:pt modelId="{C3375691-6293-4552-AE63-358E88A881F2}" type="sibTrans" cxnId="{08B7C0D5-60BD-472E-8475-00FF265D8139}">
      <dgm:prSet/>
      <dgm:spPr/>
      <dgm:t>
        <a:bodyPr/>
        <a:lstStyle/>
        <a:p>
          <a:endParaRPr lang="en-US"/>
        </a:p>
      </dgm:t>
    </dgm:pt>
    <dgm:pt modelId="{76CC5043-8BA6-4911-A9A9-045FE6E02CF3}">
      <dgm:prSet custT="1"/>
      <dgm:spPr/>
      <dgm:t>
        <a:bodyPr/>
        <a:lstStyle/>
        <a:p>
          <a:pPr algn="l">
            <a:buNone/>
          </a:pPr>
          <a:r>
            <a:rPr lang="en-US" sz="1400" dirty="0">
              <a:solidFill>
                <a:schemeClr val="tx1"/>
              </a:solidFill>
            </a:rPr>
            <a:t>-Maintain /</a:t>
          </a:r>
          <a:r>
            <a:rPr lang="en-US" sz="1400" dirty="0" err="1">
              <a:solidFill>
                <a:schemeClr val="tx1"/>
              </a:solidFill>
            </a:rPr>
            <a:t>etc</a:t>
          </a:r>
          <a:r>
            <a:rPr lang="en-US" sz="1400" dirty="0">
              <a:solidFill>
                <a:schemeClr val="tx1"/>
              </a:solidFill>
            </a:rPr>
            <a:t>/host file</a:t>
          </a:r>
        </a:p>
      </dgm:t>
    </dgm:pt>
    <dgm:pt modelId="{D767F6CD-F90E-453A-8EA2-ED424D859484}" type="parTrans" cxnId="{B4EA9F40-E1DD-4D08-92F3-525EACB454D6}">
      <dgm:prSet/>
      <dgm:spPr/>
      <dgm:t>
        <a:bodyPr/>
        <a:lstStyle/>
        <a:p>
          <a:endParaRPr lang="en-US"/>
        </a:p>
      </dgm:t>
    </dgm:pt>
    <dgm:pt modelId="{FFD9C2F6-DD0B-4EAB-9F75-601A1560BDF5}" type="sibTrans" cxnId="{B4EA9F40-E1DD-4D08-92F3-525EACB454D6}">
      <dgm:prSet/>
      <dgm:spPr/>
      <dgm:t>
        <a:bodyPr/>
        <a:lstStyle/>
        <a:p>
          <a:endParaRPr lang="en-US"/>
        </a:p>
      </dgm:t>
    </dgm:pt>
    <dgm:pt modelId="{960404D7-ACA2-458E-BFA8-E285F621162D}">
      <dgm:prSet custT="1"/>
      <dgm:spPr/>
      <dgm:t>
        <a:bodyPr/>
        <a:lstStyle/>
        <a:p>
          <a:pPr algn="l">
            <a:buNone/>
          </a:pPr>
          <a:r>
            <a:rPr lang="en-US" sz="1400" dirty="0"/>
            <a:t>   -Local Repository in the cluster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DE79DADC-44C9-4274-828D-27690E2AD820}" type="sibTrans" cxnId="{E1508F16-26EC-4DD6-8325-42B14CFABF68}">
      <dgm:prSet/>
      <dgm:spPr/>
      <dgm:t>
        <a:bodyPr/>
        <a:lstStyle/>
        <a:p>
          <a:endParaRPr lang="en-US"/>
        </a:p>
      </dgm:t>
    </dgm:pt>
    <dgm:pt modelId="{9C422E64-DF40-476B-9E0E-8E7DE004578B}" type="parTrans" cxnId="{E1508F16-26EC-4DD6-8325-42B14CFABF68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80827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95128" custLinFactNeighborX="643" custLinFactNeighborY="654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E1508F16-26EC-4DD6-8325-42B14CFABF68}" srcId="{495F97D1-97CF-4C7F-887E-4A413CDEED70}" destId="{960404D7-ACA2-458E-BFA8-E285F621162D}" srcOrd="4" destOrd="0" parTransId="{9C422E64-DF40-476B-9E0E-8E7DE004578B}" sibTransId="{DE79DADC-44C9-4274-828D-27690E2AD820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4EA9F40-E1DD-4D08-92F3-525EACB454D6}" srcId="{E07604EC-229E-4FBE-9F59-C1EE46CD116D}" destId="{76CC5043-8BA6-4911-A9A9-045FE6E02CF3}" srcOrd="3" destOrd="0" parTransId="{D767F6CD-F90E-453A-8EA2-ED424D859484}" sibTransId="{FFD9C2F6-DD0B-4EAB-9F75-601A1560BDF5}"/>
    <dgm:cxn modelId="{1B25215C-622F-4A1E-98C8-4A0CDF6995FB}" srcId="{495F97D1-97CF-4C7F-887E-4A413CDEED70}" destId="{964FD7D4-4E15-49E9-AE2F-DD88013884BC}" srcOrd="0" destOrd="0" parTransId="{1E2D93FA-D951-4F98-953D-B003CB7BFAE2}" sibTransId="{E761CFFC-9A22-4433-900E-6F40DF17B50D}"/>
    <dgm:cxn modelId="{1709E061-0A37-4173-8B95-817B4BDABAF7}" srcId="{495F97D1-97CF-4C7F-887E-4A413CDEED70}" destId="{35F9B370-B35F-480D-889D-8AAA2205F25A}" srcOrd="2" destOrd="0" parTransId="{32CD965F-6BF1-49B7-9800-6AA38FAD25D2}" sibTransId="{664B102C-3D44-4A07-9013-A226DFB2B389}"/>
    <dgm:cxn modelId="{F41B056F-8C16-44DB-B172-4C0F34E9CC11}" type="presOf" srcId="{76CC5043-8BA6-4911-A9A9-045FE6E02CF3}" destId="{5450DF9E-E76B-4CBA-AF5E-D3B0BF5AE06E}" srcOrd="0" destOrd="7" presId="urn:microsoft.com/office/officeart/2005/8/layout/vList5"/>
    <dgm:cxn modelId="{9E6B1F54-4447-4E66-ABCC-E585A0519A95}" srcId="{495F97D1-97CF-4C7F-887E-4A413CDEED70}" destId="{244B9764-F806-4741-9A34-6A9C45F8EE02}" srcOrd="1" destOrd="0" parTransId="{CAE4CAEF-30B4-4506-ACEC-3D5EA4C1D676}" sibTransId="{E233A6E1-24A1-49AB-9A3C-51F3E18D86BB}"/>
    <dgm:cxn modelId="{5776DE85-D33A-4AC5-8DA6-48ABC277FE16}" srcId="{E07604EC-229E-4FBE-9F59-C1EE46CD116D}" destId="{BB75ECBB-A3D1-496C-9378-FA02F8A2693B}" srcOrd="0" destOrd="0" parTransId="{642B3B36-2BD8-4A14-A027-9AD25C797DC0}" sibTransId="{B03E55CF-894F-4688-878C-A777D90B1457}"/>
    <dgm:cxn modelId="{6B4AC587-369E-4085-AD41-8D383733D571}" type="presOf" srcId="{65795A54-260A-4687-B302-1E8EB3D3EF20}" destId="{5450DF9E-E76B-4CBA-AF5E-D3B0BF5AE06E}" srcOrd="0" destOrd="6" presId="urn:microsoft.com/office/officeart/2005/8/layout/vList5"/>
    <dgm:cxn modelId="{6BBBDF8E-F196-4309-B064-3CCDE8BB4227}" type="presOf" srcId="{BB75ECBB-A3D1-496C-9378-FA02F8A2693B}" destId="{5450DF9E-E76B-4CBA-AF5E-D3B0BF5AE06E}" srcOrd="0" destOrd="4" presId="urn:microsoft.com/office/officeart/2005/8/layout/vList5"/>
    <dgm:cxn modelId="{B7BB3095-0279-452E-8D60-07EC44FF726E}" srcId="{E07604EC-229E-4FBE-9F59-C1EE46CD116D}" destId="{65795A54-260A-4687-B302-1E8EB3D3EF20}" srcOrd="2" destOrd="0" parTransId="{8AC89F83-4362-4127-8DDB-FC79B5631F38}" sibTransId="{1A623FE0-2B38-4DE3-BEBE-B53DE7FC6F3C}"/>
    <dgm:cxn modelId="{CCA6D7B1-FB3D-496F-A437-11E87950EBB4}" type="presOf" srcId="{E07604EC-229E-4FBE-9F59-C1EE46CD116D}" destId="{5450DF9E-E76B-4CBA-AF5E-D3B0BF5AE06E}" srcOrd="0" destOrd="3" presId="urn:microsoft.com/office/officeart/2005/8/layout/vList5"/>
    <dgm:cxn modelId="{096AB7C5-44FC-4521-918D-24B4A87A3E17}" srcId="{495F97D1-97CF-4C7F-887E-4A413CDEED70}" destId="{E07604EC-229E-4FBE-9F59-C1EE46CD116D}" srcOrd="3" destOrd="0" parTransId="{E6547E7D-B5AD-4C07-B70C-B07D56CAA570}" sibTransId="{BE8B2EC0-3CD4-4E38-B791-8300A5DBEB55}"/>
    <dgm:cxn modelId="{F68F88C6-5D7F-47D2-A9FC-2632C4760856}" type="presOf" srcId="{960404D7-ACA2-458E-BFA8-E285F621162D}" destId="{5450DF9E-E76B-4CBA-AF5E-D3B0BF5AE06E}" srcOrd="0" destOrd="8" presId="urn:microsoft.com/office/officeart/2005/8/layout/vList5"/>
    <dgm:cxn modelId="{84080CCA-06E2-47B5-9D96-62B849836F2F}" type="presOf" srcId="{35F9B370-B35F-480D-889D-8AAA2205F25A}" destId="{5450DF9E-E76B-4CBA-AF5E-D3B0BF5AE06E}" srcOrd="0" destOrd="2" presId="urn:microsoft.com/office/officeart/2005/8/layout/vList5"/>
    <dgm:cxn modelId="{08B7C0D5-60BD-472E-8475-00FF265D8139}" srcId="{E07604EC-229E-4FBE-9F59-C1EE46CD116D}" destId="{AC6CF52F-10F6-4952-A91C-31E99456DB8D}" srcOrd="1" destOrd="0" parTransId="{293141D2-3365-4F09-ACC5-AFDF05996370}" sibTransId="{C3375691-6293-4552-AE63-358E88A881F2}"/>
    <dgm:cxn modelId="{40BBE6E7-3CE2-4434-87D4-311266E3A37E}" type="presOf" srcId="{AC6CF52F-10F6-4952-A91C-31E99456DB8D}" destId="{5450DF9E-E76B-4CBA-AF5E-D3B0BF5AE06E}" srcOrd="0" destOrd="5" presId="urn:microsoft.com/office/officeart/2005/8/layout/vList5"/>
    <dgm:cxn modelId="{4CA29BEE-5548-4195-9662-B6CD2079452C}" type="presOf" srcId="{964FD7D4-4E15-49E9-AE2F-DD88013884BC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F03327F8-6382-48D1-B5C2-29502C9A65FD}" type="presOf" srcId="{244B9764-F806-4741-9A34-6A9C45F8EE02}" destId="{5450DF9E-E76B-4CBA-AF5E-D3B0BF5AE06E}" srcOrd="0" destOrd="1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Installation Guideline</a:t>
          </a:r>
        </a:p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https://xcat-docs.readthedocs.io/en/stable/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2FFE1B1C-100E-47D3-88BA-1CDDCC5BEC52}">
      <dgm:prSet custT="1"/>
      <dgm:spPr/>
      <dgm:t>
        <a:bodyPr/>
        <a:lstStyle/>
        <a:p>
          <a:r>
            <a:rPr lang="en-US" sz="1700" dirty="0"/>
            <a:t>Pre-requisites:</a:t>
          </a:r>
          <a:r>
            <a:rPr lang="en-US" sz="3700" dirty="0"/>
            <a:t> </a:t>
          </a:r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4F8EAEF4-17A5-4399-8A9A-5478273C2362}">
      <dgm:prSet custT="1"/>
      <dgm:spPr/>
      <dgm:t>
        <a:bodyPr/>
        <a:lstStyle/>
        <a:p>
          <a:pPr>
            <a:buNone/>
          </a:pPr>
          <a:r>
            <a:rPr lang="en-US" sz="1400" dirty="0"/>
            <a:t>-Make sure NTP is enabled across the cluster</a:t>
          </a:r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7F63623C-12F5-4B47-AE59-15646628DE5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https://github.com/xcat2/xcat-core/wiki/XCAT_2.13.3_Release_Notes</a:t>
          </a:r>
        </a:p>
      </dgm:t>
    </dgm:pt>
    <dgm:pt modelId="{3CF9646F-8375-4337-B47B-BBD8EE76B5CF}" type="parTrans" cxnId="{CF6DD67B-7231-4AD6-B189-8E800D4714C2}">
      <dgm:prSet/>
      <dgm:spPr/>
      <dgm:t>
        <a:bodyPr/>
        <a:lstStyle/>
        <a:p>
          <a:endParaRPr lang="en-US"/>
        </a:p>
      </dgm:t>
    </dgm:pt>
    <dgm:pt modelId="{2604AD62-2AE3-45C7-B583-22FB4AF74B88}" type="sibTrans" cxnId="{CF6DD67B-7231-4AD6-B189-8E800D4714C2}">
      <dgm:prSet/>
      <dgm:spPr/>
      <dgm:t>
        <a:bodyPr/>
        <a:lstStyle/>
        <a:p>
          <a:endParaRPr lang="en-US"/>
        </a:p>
      </dgm:t>
    </dgm:pt>
    <dgm:pt modelId="{EC55C4F0-81DC-4DCD-88B2-172FA6F7CD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https://xcat-docs.readthedocs.io/en/stable/guides/install-guides/yum/manual_install.html</a:t>
          </a:r>
        </a:p>
      </dgm:t>
    </dgm:pt>
    <dgm:pt modelId="{4B1B571F-C816-4F52-99E9-F5A21AD9CD6B}" type="parTrans" cxnId="{99A6D5B6-6EA5-4A99-ADBA-670CC62224E4}">
      <dgm:prSet/>
      <dgm:spPr/>
      <dgm:t>
        <a:bodyPr/>
        <a:lstStyle/>
        <a:p>
          <a:endParaRPr lang="en-US"/>
        </a:p>
      </dgm:t>
    </dgm:pt>
    <dgm:pt modelId="{B885EC92-8560-45A3-A11D-C1EA09DEACB3}" type="sibTrans" cxnId="{99A6D5B6-6EA5-4A99-ADBA-670CC62224E4}">
      <dgm:prSet/>
      <dgm:spPr/>
      <dgm:t>
        <a:bodyPr/>
        <a:lstStyle/>
        <a:p>
          <a:endParaRPr lang="en-US"/>
        </a:p>
      </dgm:t>
    </dgm:pt>
    <dgm:pt modelId="{EAB217C3-B3EB-400A-A33A-58B303DF307A}">
      <dgm:prSet custT="1"/>
      <dgm:spPr/>
      <dgm:t>
        <a:bodyPr/>
        <a:lstStyle/>
        <a:p>
          <a:pPr>
            <a:buNone/>
          </a:pPr>
          <a:r>
            <a:rPr lang="en-US" sz="1400" dirty="0"/>
            <a:t>-</a:t>
          </a:r>
          <a:r>
            <a:rPr lang="en-US" sz="1400" dirty="0" err="1"/>
            <a:t>Passwordless</a:t>
          </a:r>
          <a:r>
            <a:rPr lang="en-US" sz="1400" dirty="0"/>
            <a:t> SSH for root is enabled across the cluster from ms1/ms2</a:t>
          </a:r>
        </a:p>
      </dgm:t>
    </dgm:pt>
    <dgm:pt modelId="{856DFB32-9FBD-4E16-8E88-5A599CA44FDD}" type="parTrans" cxnId="{BA04EAB7-C4EB-445C-886A-B6186AEEA0FF}">
      <dgm:prSet/>
      <dgm:spPr/>
      <dgm:t>
        <a:bodyPr/>
        <a:lstStyle/>
        <a:p>
          <a:endParaRPr lang="en-US"/>
        </a:p>
      </dgm:t>
    </dgm:pt>
    <dgm:pt modelId="{0556D310-B95D-4A8F-AA9B-13CFB7D6CECC}" type="sibTrans" cxnId="{BA04EAB7-C4EB-445C-886A-B6186AEEA0FF}">
      <dgm:prSet/>
      <dgm:spPr/>
      <dgm:t>
        <a:bodyPr/>
        <a:lstStyle/>
        <a:p>
          <a:endParaRPr lang="en-US"/>
        </a:p>
      </dgm:t>
    </dgm:pt>
    <dgm:pt modelId="{EB11224C-66CD-43BD-BE87-49609B60543C}">
      <dgm:prSet custT="1"/>
      <dgm:spPr/>
      <dgm:t>
        <a:bodyPr/>
        <a:lstStyle/>
        <a:p>
          <a:pPr>
            <a:buNone/>
          </a:pPr>
          <a:r>
            <a:rPr lang="en-US" sz="1400" dirty="0"/>
            <a:t>-Configure a VIP network interface dedicated for the active </a:t>
          </a:r>
          <a:r>
            <a:rPr lang="en-US" sz="1400" dirty="0" err="1"/>
            <a:t>xcatmaster</a:t>
          </a:r>
          <a:endParaRPr lang="en-US" sz="1400" dirty="0"/>
        </a:p>
      </dgm:t>
    </dgm:pt>
    <dgm:pt modelId="{165A2EFD-DECA-4863-867D-988D5F482943}" type="parTrans" cxnId="{ECC335BD-A99D-4C59-9BD1-87AA676E8BC6}">
      <dgm:prSet/>
      <dgm:spPr/>
      <dgm:t>
        <a:bodyPr/>
        <a:lstStyle/>
        <a:p>
          <a:endParaRPr lang="en-US"/>
        </a:p>
      </dgm:t>
    </dgm:pt>
    <dgm:pt modelId="{2A9DA96E-1D08-43ED-9E2F-B10E6BE9D541}" type="sibTrans" cxnId="{ECC335BD-A99D-4C59-9BD1-87AA676E8BC6}">
      <dgm:prSet/>
      <dgm:spPr/>
      <dgm:t>
        <a:bodyPr/>
        <a:lstStyle/>
        <a:p>
          <a:endParaRPr lang="en-US"/>
        </a:p>
      </dgm:t>
    </dgm:pt>
    <dgm:pt modelId="{59142B17-7DD7-4B96-9A62-2DD55A94C69D}">
      <dgm:prSet custT="1"/>
      <dgm:spPr/>
      <dgm:t>
        <a:bodyPr/>
        <a:lstStyle/>
        <a:p>
          <a:pPr>
            <a:buNone/>
          </a:pPr>
          <a:r>
            <a:rPr lang="en-US" sz="1400" dirty="0"/>
            <a:t>-VIP for </a:t>
          </a:r>
          <a:r>
            <a:rPr lang="en-US" sz="1400" dirty="0" err="1"/>
            <a:t>xcatmn</a:t>
          </a:r>
          <a:r>
            <a:rPr lang="en-US" sz="1400" dirty="0"/>
            <a:t>: 192.168.248.60 (em3:0) only up on active master node (ms1)</a:t>
          </a:r>
        </a:p>
      </dgm:t>
    </dgm:pt>
    <dgm:pt modelId="{34FC91D5-22FC-40B2-8B75-1A1E55BD1624}" type="parTrans" cxnId="{EDF95AAE-000F-437E-9603-D5337252D752}">
      <dgm:prSet/>
      <dgm:spPr/>
      <dgm:t>
        <a:bodyPr/>
        <a:lstStyle/>
        <a:p>
          <a:endParaRPr lang="en-US"/>
        </a:p>
      </dgm:t>
    </dgm:pt>
    <dgm:pt modelId="{D8B13048-2F76-46CC-9663-4488783F479F}" type="sibTrans" cxnId="{EDF95AAE-000F-437E-9603-D5337252D752}">
      <dgm:prSet/>
      <dgm:spPr/>
      <dgm:t>
        <a:bodyPr/>
        <a:lstStyle/>
        <a:p>
          <a:endParaRPr lang="en-US"/>
        </a:p>
      </dgm:t>
    </dgm:pt>
    <dgm:pt modelId="{54997A1C-13C6-4E89-919B-21822CEF9EDF}">
      <dgm:prSet custT="1"/>
      <dgm:spPr/>
      <dgm:t>
        <a:bodyPr/>
        <a:lstStyle/>
        <a:p>
          <a:pPr>
            <a:buNone/>
          </a:pPr>
          <a:r>
            <a:rPr lang="en-US" sz="1400" dirty="0"/>
            <a:t>-Host IP for ms1: 192.168.248.61 (em3) | ms2: 192.168.248.62 (em3)</a:t>
          </a:r>
        </a:p>
      </dgm:t>
    </dgm:pt>
    <dgm:pt modelId="{E963E1BA-8D57-4E3F-B134-14DF07607245}" type="parTrans" cxnId="{218406AA-75D5-404B-A181-28FC57C2754D}">
      <dgm:prSet/>
      <dgm:spPr/>
      <dgm:t>
        <a:bodyPr/>
        <a:lstStyle/>
        <a:p>
          <a:endParaRPr lang="en-US"/>
        </a:p>
      </dgm:t>
    </dgm:pt>
    <dgm:pt modelId="{E9982422-AADC-4836-87D4-B776A9EB398A}" type="sibTrans" cxnId="{218406AA-75D5-404B-A181-28FC57C2754D}">
      <dgm:prSet/>
      <dgm:spPr/>
      <dgm:t>
        <a:bodyPr/>
        <a:lstStyle/>
        <a:p>
          <a:endParaRPr lang="en-US"/>
        </a:p>
      </dgm:t>
    </dgm:pt>
    <dgm:pt modelId="{F4D37197-3C49-48EE-979C-7618B59A3171}">
      <dgm:prSet custT="1"/>
      <dgm:spPr/>
      <dgm:t>
        <a:bodyPr/>
        <a:lstStyle/>
        <a:p>
          <a:pPr>
            <a:buNone/>
          </a:pPr>
          <a:r>
            <a:rPr lang="en-US" sz="1400" dirty="0"/>
            <a:t>-ms1/ms2 configured as </a:t>
          </a:r>
          <a:r>
            <a:rPr lang="en-US" sz="1400" dirty="0" err="1"/>
            <a:t>ntp</a:t>
          </a:r>
          <a:r>
            <a:rPr lang="en-US" sz="1400" dirty="0"/>
            <a:t>, nameservers on </a:t>
          </a:r>
          <a:r>
            <a:rPr lang="en-US" sz="1400" dirty="0" err="1"/>
            <a:t>xcat</a:t>
          </a:r>
          <a:endParaRPr lang="en-US" sz="1400" dirty="0"/>
        </a:p>
      </dgm:t>
    </dgm:pt>
    <dgm:pt modelId="{45E7FBDB-E2D1-44BE-AFE1-AE442868DA46}" type="parTrans" cxnId="{F079DD56-DC39-4624-A644-3F7FACCA10FF}">
      <dgm:prSet/>
      <dgm:spPr/>
      <dgm:t>
        <a:bodyPr/>
        <a:lstStyle/>
        <a:p>
          <a:endParaRPr lang="en-US"/>
        </a:p>
      </dgm:t>
    </dgm:pt>
    <dgm:pt modelId="{64EAFD79-876E-412D-8C02-3DF161654956}" type="sibTrans" cxnId="{F079DD56-DC39-4624-A644-3F7FACCA10FF}">
      <dgm:prSet/>
      <dgm:spPr/>
      <dgm:t>
        <a:bodyPr/>
        <a:lstStyle/>
        <a:p>
          <a:endParaRPr lang="en-US"/>
        </a:p>
      </dgm:t>
    </dgm:pt>
    <dgm:pt modelId="{15E666D1-8DCD-469B-BBA0-D2974B0CCD48}">
      <dgm:prSet custT="1"/>
      <dgm:spPr/>
      <dgm:t>
        <a:bodyPr/>
        <a:lstStyle/>
        <a:p>
          <a:pPr>
            <a:buNone/>
          </a:pPr>
          <a:r>
            <a:rPr lang="en-US" sz="1400" dirty="0"/>
            <a:t>-</a:t>
          </a:r>
          <a:r>
            <a:rPr lang="en-US" sz="1400" dirty="0" err="1"/>
            <a:t>xcatmn</a:t>
          </a:r>
          <a:r>
            <a:rPr lang="en-US" sz="1400" dirty="0"/>
            <a:t> used as </a:t>
          </a:r>
          <a:r>
            <a:rPr lang="en-US" sz="1400" dirty="0" err="1"/>
            <a:t>dhcp</a:t>
          </a:r>
          <a:r>
            <a:rPr lang="en-US" sz="1400" dirty="0"/>
            <a:t> server, </a:t>
          </a:r>
          <a:r>
            <a:rPr lang="en-US" sz="1400" dirty="0" err="1"/>
            <a:t>dns</a:t>
          </a:r>
          <a:r>
            <a:rPr lang="en-US" sz="1400" dirty="0"/>
            <a:t> server, </a:t>
          </a:r>
          <a:r>
            <a:rPr lang="en-US" sz="1400" dirty="0" err="1"/>
            <a:t>tfpserver</a:t>
          </a:r>
          <a:r>
            <a:rPr lang="en-US" sz="1400" dirty="0"/>
            <a:t> in </a:t>
          </a:r>
          <a:r>
            <a:rPr lang="en-US" sz="1400" dirty="0" err="1"/>
            <a:t>mgmt</a:t>
          </a:r>
          <a:r>
            <a:rPr lang="en-US" sz="1400" dirty="0"/>
            <a:t> network</a:t>
          </a:r>
        </a:p>
      </dgm:t>
    </dgm:pt>
    <dgm:pt modelId="{C1BAB879-842B-4926-9DC7-575FD1BE3230}" type="parTrans" cxnId="{3C8D3046-E4C8-465E-851F-A72585DEED8A}">
      <dgm:prSet/>
      <dgm:spPr/>
      <dgm:t>
        <a:bodyPr/>
        <a:lstStyle/>
        <a:p>
          <a:endParaRPr lang="en-US"/>
        </a:p>
      </dgm:t>
    </dgm:pt>
    <dgm:pt modelId="{84B8F1B7-F3F4-4658-97A0-181FD0759EFF}" type="sibTrans" cxnId="{3C8D3046-E4C8-465E-851F-A72585DEED8A}">
      <dgm:prSet/>
      <dgm:spPr/>
      <dgm:t>
        <a:bodyPr/>
        <a:lstStyle/>
        <a:p>
          <a:endParaRPr lang="en-US"/>
        </a:p>
      </dgm:t>
    </dgm:pt>
    <dgm:pt modelId="{30290707-8620-40AF-9CD2-A83C3E88BE38}">
      <dgm:prSet custT="1"/>
      <dgm:spPr/>
      <dgm:t>
        <a:bodyPr/>
        <a:lstStyle/>
        <a:p>
          <a:pPr>
            <a:buNone/>
          </a:pPr>
          <a:r>
            <a:rPr lang="en-US" sz="1400" dirty="0"/>
            <a:t>-roary.net domain used</a:t>
          </a:r>
        </a:p>
      </dgm:t>
    </dgm:pt>
    <dgm:pt modelId="{7EE9AA67-1F4B-4E60-868F-E7E300A00D2D}" type="parTrans" cxnId="{BE9BF200-55AA-448D-8CF6-022E6785B128}">
      <dgm:prSet/>
      <dgm:spPr/>
      <dgm:t>
        <a:bodyPr/>
        <a:lstStyle/>
        <a:p>
          <a:endParaRPr lang="en-US"/>
        </a:p>
      </dgm:t>
    </dgm:pt>
    <dgm:pt modelId="{F4F6E321-125F-46BE-B7D8-57CF1B27E5D2}" type="sibTrans" cxnId="{BE9BF200-55AA-448D-8CF6-022E6785B128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2" custScaleX="98833" custScaleY="40847" custLinFactNeighborX="0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2" custScaleY="48723" custLinFactNeighborX="0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2" custScaleY="91531" custLinFactNeighborX="796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2" custScaleY="109180" custLinFactNeighborX="2374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BE9BF200-55AA-448D-8CF6-022E6785B128}" srcId="{59142B17-7DD7-4B96-9A62-2DD55A94C69D}" destId="{30290707-8620-40AF-9CD2-A83C3E88BE38}" srcOrd="1" destOrd="0" parTransId="{7EE9AA67-1F4B-4E60-868F-E7E300A00D2D}" sibTransId="{F4F6E321-125F-46BE-B7D8-57CF1B27E5D2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199A8208-2B9C-4F96-B881-822D0BCCBCAB}" type="presOf" srcId="{EC55C4F0-81DC-4DCD-88B2-172FA6F7CD48}" destId="{5450DF9E-E76B-4CBA-AF5E-D3B0BF5AE06E}" srcOrd="0" destOrd="1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344B718-2433-4EE4-9827-59CFBBAE1FAE}" type="presOf" srcId="{EB11224C-66CD-43BD-BE87-49609B60543C}" destId="{7CF1B421-46CD-4E66-BEDF-16A773CDC532}" srcOrd="0" destOrd="2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45520C5E-2D01-4BAF-9FE1-BAD788AD6973}" type="presOf" srcId="{30290707-8620-40AF-9CD2-A83C3E88BE38}" destId="{7CF1B421-46CD-4E66-BEDF-16A773CDC532}" srcOrd="0" destOrd="5" presId="urn:microsoft.com/office/officeart/2005/8/layout/vList5"/>
    <dgm:cxn modelId="{B9EC9C65-7326-4A2C-92C1-81647F081628}" type="presOf" srcId="{EAB217C3-B3EB-400A-A33A-58B303DF307A}" destId="{7CF1B421-46CD-4E66-BEDF-16A773CDC532}" srcOrd="0" destOrd="1" presId="urn:microsoft.com/office/officeart/2005/8/layout/vList5"/>
    <dgm:cxn modelId="{3C8D3046-E4C8-465E-851F-A72585DEED8A}" srcId="{59142B17-7DD7-4B96-9A62-2DD55A94C69D}" destId="{15E666D1-8DCD-469B-BBA0-D2974B0CCD48}" srcOrd="0" destOrd="0" parTransId="{C1BAB879-842B-4926-9DC7-575FD1BE3230}" sibTransId="{84B8F1B7-F3F4-4658-97A0-181FD0759EFF}"/>
    <dgm:cxn modelId="{F079DD56-DC39-4624-A644-3F7FACCA10FF}" srcId="{54997A1C-13C6-4E89-919B-21822CEF9EDF}" destId="{F4D37197-3C49-48EE-979C-7618B59A3171}" srcOrd="0" destOrd="0" parTransId="{45E7FBDB-E2D1-44BE-AFE1-AE442868DA46}" sibTransId="{64EAFD79-876E-412D-8C02-3DF161654956}"/>
    <dgm:cxn modelId="{CF6DD67B-7231-4AD6-B189-8E800D4714C2}" srcId="{495F97D1-97CF-4C7F-887E-4A413CDEED70}" destId="{7F63623C-12F5-4B47-AE59-15646628DE59}" srcOrd="2" destOrd="0" parTransId="{3CF9646F-8375-4337-B47B-BBD8EE76B5CF}" sibTransId="{2604AD62-2AE3-45C7-B583-22FB4AF74B88}"/>
    <dgm:cxn modelId="{883AC591-B0C3-40F5-A27C-2227A80BA855}" type="presOf" srcId="{54997A1C-13C6-4E89-919B-21822CEF9EDF}" destId="{7CF1B421-46CD-4E66-BEDF-16A773CDC532}" srcOrd="0" destOrd="6" presId="urn:microsoft.com/office/officeart/2005/8/layout/vList5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218406AA-75D5-404B-A181-28FC57C2754D}" srcId="{EB11224C-66CD-43BD-BE87-49609B60543C}" destId="{54997A1C-13C6-4E89-919B-21822CEF9EDF}" srcOrd="1" destOrd="0" parTransId="{E963E1BA-8D57-4E3F-B134-14DF07607245}" sibTransId="{E9982422-AADC-4836-87D4-B776A9EB398A}"/>
    <dgm:cxn modelId="{C96599AC-31A7-464D-B1A3-06EBA269EB31}" type="presOf" srcId="{F4D37197-3C49-48EE-979C-7618B59A3171}" destId="{7CF1B421-46CD-4E66-BEDF-16A773CDC532}" srcOrd="0" destOrd="7" presId="urn:microsoft.com/office/officeart/2005/8/layout/vList5"/>
    <dgm:cxn modelId="{EDF95AAE-000F-437E-9603-D5337252D752}" srcId="{EB11224C-66CD-43BD-BE87-49609B60543C}" destId="{59142B17-7DD7-4B96-9A62-2DD55A94C69D}" srcOrd="0" destOrd="0" parTransId="{34FC91D5-22FC-40B2-8B75-1A1E55BD1624}" sibTransId="{D8B13048-2F76-46CC-9663-4488783F479F}"/>
    <dgm:cxn modelId="{99A6D5B6-6EA5-4A99-ADBA-670CC62224E4}" srcId="{495F97D1-97CF-4C7F-887E-4A413CDEED70}" destId="{EC55C4F0-81DC-4DCD-88B2-172FA6F7CD48}" srcOrd="1" destOrd="0" parTransId="{4B1B571F-C816-4F52-99E9-F5A21AD9CD6B}" sibTransId="{B885EC92-8560-45A3-A11D-C1EA09DEACB3}"/>
    <dgm:cxn modelId="{BA04EAB7-C4EB-445C-886A-B6186AEEA0FF}" srcId="{2FFE1B1C-100E-47D3-88BA-1CDDCC5BEC52}" destId="{EAB217C3-B3EB-400A-A33A-58B303DF307A}" srcOrd="1" destOrd="0" parTransId="{856DFB32-9FBD-4E16-8E88-5A599CA44FDD}" sibTransId="{0556D310-B95D-4A8F-AA9B-13CFB7D6CECC}"/>
    <dgm:cxn modelId="{ECC335BD-A99D-4C59-9BD1-87AA676E8BC6}" srcId="{2FFE1B1C-100E-47D3-88BA-1CDDCC5BEC52}" destId="{EB11224C-66CD-43BD-BE87-49609B60543C}" srcOrd="2" destOrd="0" parTransId="{165A2EFD-DECA-4863-867D-988D5F482943}" sibTransId="{2A9DA96E-1D08-43ED-9E2F-B10E6BE9D541}"/>
    <dgm:cxn modelId="{C73A6CD4-6C01-4A07-91EC-816054CFD323}" type="presOf" srcId="{15E666D1-8DCD-469B-BBA0-D2974B0CCD48}" destId="{7CF1B421-46CD-4E66-BEDF-16A773CDC532}" srcOrd="0" destOrd="4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410C1BEF-BCDA-486D-B10B-3A4A1D3B2939}" type="presOf" srcId="{7F63623C-12F5-4B47-AE59-15646628DE59}" destId="{5450DF9E-E76B-4CBA-AF5E-D3B0BF5AE06E}" srcOrd="0" destOrd="2" presId="urn:microsoft.com/office/officeart/2005/8/layout/vList5"/>
    <dgm:cxn modelId="{BC9D72F6-B7F4-4A59-A94F-9B0633E39820}" type="presOf" srcId="{59142B17-7DD7-4B96-9A62-2DD55A94C69D}" destId="{7CF1B421-46CD-4E66-BEDF-16A773CDC532}" srcOrd="0" destOrd="3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/>
            <a:t>xCAT</a:t>
          </a:r>
          <a:r>
            <a:rPr lang="en-US" sz="1700" dirty="0"/>
            <a:t> Installed under </a:t>
          </a:r>
          <a:r>
            <a:rPr lang="en-US" sz="1700" dirty="0" err="1"/>
            <a:t>Lustre</a:t>
          </a:r>
          <a:r>
            <a:rPr lang="en-US" sz="1700" dirty="0"/>
            <a:t> FS:</a:t>
          </a:r>
          <a:endParaRPr lang="en-US" sz="1700" dirty="0">
            <a:solidFill>
              <a:schemeClr val="bg1"/>
            </a:solidFill>
          </a:endParaRP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Tar downloaded under /home/software/</a:t>
          </a:r>
          <a:r>
            <a:rPr lang="en-US" sz="1400" dirty="0" err="1"/>
            <a:t>xcat</a:t>
          </a:r>
          <a:r>
            <a:rPr lang="en-US" sz="1400" dirty="0"/>
            <a:t>/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4F8EAEF4-17A5-4399-8A9A-5478273C2362}">
      <dgm:prSet custT="1"/>
      <dgm:spPr/>
      <dgm:t>
        <a:bodyPr/>
        <a:lstStyle/>
        <a:p>
          <a:pPr>
            <a:buNone/>
          </a:pPr>
          <a:endParaRPr lang="en-US" sz="1400" dirty="0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2FFE1B1C-100E-47D3-88BA-1CDDCC5BEC52}">
      <dgm:prSet custT="1"/>
      <dgm:spPr/>
      <dgm:t>
        <a:bodyPr/>
        <a:lstStyle/>
        <a:p>
          <a:endParaRPr lang="en-US" sz="3700" dirty="0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F0F3D23B-6873-4870-AB66-05EC5D19E07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On active master node mount these </a:t>
          </a:r>
          <a:r>
            <a:rPr lang="en-US" sz="1400" dirty="0" err="1"/>
            <a:t>xcat</a:t>
          </a:r>
          <a:r>
            <a:rPr lang="en-US" sz="1400" dirty="0"/>
            <a:t> partitions from </a:t>
          </a:r>
          <a:r>
            <a:rPr lang="en-US" sz="1400" dirty="0" err="1"/>
            <a:t>lustre</a:t>
          </a:r>
          <a:endParaRPr lang="en-US" sz="1400" dirty="0"/>
        </a:p>
      </dgm:t>
    </dgm:pt>
    <dgm:pt modelId="{9A7C6F6B-D10C-4137-A1B8-6541EA646BE9}" type="parTrans" cxnId="{B1174F68-E217-4AB6-8A41-453D2A01E9D1}">
      <dgm:prSet/>
      <dgm:spPr/>
      <dgm:t>
        <a:bodyPr/>
        <a:lstStyle/>
        <a:p>
          <a:endParaRPr lang="en-US"/>
        </a:p>
      </dgm:t>
    </dgm:pt>
    <dgm:pt modelId="{AFE72873-5142-4424-B0BC-86E999C09BEF}" type="sibTrans" cxnId="{B1174F68-E217-4AB6-8A41-453D2A01E9D1}">
      <dgm:prSet/>
      <dgm:spPr/>
      <dgm:t>
        <a:bodyPr/>
        <a:lstStyle/>
        <a:p>
          <a:endParaRPr lang="en-US"/>
        </a:p>
      </dgm:t>
    </dgm:pt>
    <dgm:pt modelId="{996AD0EC-239C-4A6D-9381-2025A4E6F8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Installation launched from </a:t>
          </a:r>
          <a:r>
            <a:rPr lang="en-US" sz="1400" dirty="0" err="1"/>
            <a:t>Xcat</a:t>
          </a:r>
          <a:r>
            <a:rPr lang="en-US" sz="1400" dirty="0"/>
            <a:t>-core / </a:t>
          </a:r>
          <a:r>
            <a:rPr lang="en-US" sz="1400" dirty="0" err="1"/>
            <a:t>xcat</a:t>
          </a:r>
          <a:r>
            <a:rPr lang="en-US" sz="1400" dirty="0"/>
            <a:t>-dep repositories</a:t>
          </a:r>
        </a:p>
      </dgm:t>
    </dgm:pt>
    <dgm:pt modelId="{720CD824-13C5-44EA-A616-418BE7436F81}" type="parTrans" cxnId="{9D7FBF3A-2AE0-4990-9204-DF4958E3C159}">
      <dgm:prSet/>
      <dgm:spPr/>
      <dgm:t>
        <a:bodyPr/>
        <a:lstStyle/>
        <a:p>
          <a:endParaRPr lang="en-US"/>
        </a:p>
      </dgm:t>
    </dgm:pt>
    <dgm:pt modelId="{5C7F58F3-89F3-4DBC-8B40-AB6D552C54D6}" type="sibTrans" cxnId="{9D7FBF3A-2AE0-4990-9204-DF4958E3C159}">
      <dgm:prSet/>
      <dgm:spPr/>
      <dgm:t>
        <a:bodyPr/>
        <a:lstStyle/>
        <a:p>
          <a:endParaRPr lang="en-US"/>
        </a:p>
      </dgm:t>
    </dgm:pt>
    <dgm:pt modelId="{DC175143-B085-4730-B78E-BAB530801ED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Installation prefix path: /home/share/</a:t>
          </a:r>
          <a:r>
            <a:rPr lang="en-US" sz="1400" dirty="0" err="1"/>
            <a:t>xCAT</a:t>
          </a:r>
          <a:r>
            <a:rPr lang="en-US" sz="1400" dirty="0"/>
            <a:t>/2.13.3</a:t>
          </a:r>
        </a:p>
      </dgm:t>
    </dgm:pt>
    <dgm:pt modelId="{B0A39385-CBEC-40D8-842B-836A3D6D2FDC}" type="parTrans" cxnId="{9689BB32-DB33-4261-9925-2967DA281AB0}">
      <dgm:prSet/>
      <dgm:spPr/>
      <dgm:t>
        <a:bodyPr/>
        <a:lstStyle/>
        <a:p>
          <a:endParaRPr lang="en-US"/>
        </a:p>
      </dgm:t>
    </dgm:pt>
    <dgm:pt modelId="{8B5A3310-307C-4FEB-B644-8F6E1C12CA21}" type="sibTrans" cxnId="{9689BB32-DB33-4261-9925-2967DA281AB0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2" custScaleX="110696" custScaleY="40847" custLinFactNeighborX="-549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2" custScaleY="48723" custLinFactNeighborX="1416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2" custFlipVert="0" custFlipHor="0" custScaleX="19877" custScaleY="1852" custLinFactX="1216520" custLinFactNeighborX="1300000" custLinFactNeighborY="800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2" custScaleX="2000000" custScaleY="85171" custLinFactX="-100000" custLinFactNeighborX="-114535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1F920617-07F5-406E-BAA0-48E8D51EE393}" type="presOf" srcId="{DC175143-B085-4730-B78E-BAB530801ED8}" destId="{5450DF9E-E76B-4CBA-AF5E-D3B0BF5AE06E}" srcOrd="0" destOrd="2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9689BB32-DB33-4261-9925-2967DA281AB0}" srcId="{495F97D1-97CF-4C7F-887E-4A413CDEED70}" destId="{DC175143-B085-4730-B78E-BAB530801ED8}" srcOrd="2" destOrd="0" parTransId="{B0A39385-CBEC-40D8-842B-836A3D6D2FDC}" sibTransId="{8B5A3310-307C-4FEB-B644-8F6E1C12CA21}"/>
    <dgm:cxn modelId="{9D7FBF3A-2AE0-4990-9204-DF4958E3C159}" srcId="{495F97D1-97CF-4C7F-887E-4A413CDEED70}" destId="{996AD0EC-239C-4A6D-9381-2025A4E6F821}" srcOrd="1" destOrd="0" parTransId="{720CD824-13C5-44EA-A616-418BE7436F81}" sibTransId="{5C7F58F3-89F3-4DBC-8B40-AB6D552C54D6}"/>
    <dgm:cxn modelId="{B1174F68-E217-4AB6-8A41-453D2A01E9D1}" srcId="{495F97D1-97CF-4C7F-887E-4A413CDEED70}" destId="{F0F3D23B-6873-4870-AB66-05EC5D19E07C}" srcOrd="3" destOrd="0" parTransId="{9A7C6F6B-D10C-4137-A1B8-6541EA646BE9}" sibTransId="{AFE72873-5142-4424-B0BC-86E999C09BEF}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EE945CAC-DD3B-4F1F-A7B5-30E38873963F}" type="presOf" srcId="{F0F3D23B-6873-4870-AB66-05EC5D19E07C}" destId="{5450DF9E-E76B-4CBA-AF5E-D3B0BF5AE06E}" srcOrd="0" destOrd="3" presId="urn:microsoft.com/office/officeart/2005/8/layout/vList5"/>
    <dgm:cxn modelId="{F5BF9EB5-D485-4F78-AD85-53AB9E89B19E}" type="presOf" srcId="{996AD0EC-239C-4A6D-9381-2025A4E6F821}" destId="{5450DF9E-E76B-4CBA-AF5E-D3B0BF5AE06E}" srcOrd="0" destOrd="1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 stop/start scripts: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Manually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on master node (ms1/ms2)</a:t>
          </a:r>
          <a:endParaRPr lang="en-US" sz="1500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C97C131C-3F84-4C47-AB25-53F32F705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script to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daemons located under /bin/</a:t>
          </a:r>
        </a:p>
      </dgm:t>
    </dgm:pt>
    <dgm:pt modelId="{751F0268-1710-4DB8-949B-9625CFA71067}" type="parTrans" cxnId="{B8ECF241-C724-4979-A8AC-147503DA6D5B}">
      <dgm:prSet/>
      <dgm:spPr/>
      <dgm:t>
        <a:bodyPr/>
        <a:lstStyle/>
        <a:p>
          <a:endParaRPr lang="en-US"/>
        </a:p>
      </dgm:t>
    </dgm:pt>
    <dgm:pt modelId="{9922ECAD-5B73-45A9-A14C-2BAC9FE94A73}" type="sibTrans" cxnId="{B8ECF241-C724-4979-A8AC-147503DA6D5B}">
      <dgm:prSet/>
      <dgm:spPr/>
      <dgm:t>
        <a:bodyPr/>
        <a:lstStyle/>
        <a:p>
          <a:endParaRPr lang="en-US"/>
        </a:p>
      </dgm:t>
    </dgm:pt>
    <dgm:pt modelId="{B4D14D36-3073-4E7D-9C2B-276E727A4A0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-stop-</a:t>
          </a:r>
          <a:r>
            <a:rPr lang="en-US" sz="1400" dirty="0" err="1"/>
            <a:t>xcatmn</a:t>
          </a:r>
          <a:r>
            <a:rPr lang="en-US" sz="1400" dirty="0"/>
            <a:t> &gt; /home/share/</a:t>
          </a:r>
          <a:r>
            <a:rPr lang="en-US" sz="1400" dirty="0" err="1"/>
            <a:t>xCAT</a:t>
          </a:r>
          <a:r>
            <a:rPr lang="en-US" sz="1400" dirty="0"/>
            <a:t>/2.13.3/script/stop-</a:t>
          </a:r>
          <a:r>
            <a:rPr lang="en-US" sz="1400" dirty="0" err="1"/>
            <a:t>xcatmn</a:t>
          </a:r>
          <a:endParaRPr lang="en-US" sz="1400" dirty="0"/>
        </a:p>
      </dgm:t>
    </dgm:pt>
    <dgm:pt modelId="{71B8B5B6-8834-4AA0-A9B2-C63BF73757AF}" type="parTrans" cxnId="{BC050CDF-9706-4CA6-B3F9-93E41870E1C6}">
      <dgm:prSet/>
      <dgm:spPr/>
      <dgm:t>
        <a:bodyPr/>
        <a:lstStyle/>
        <a:p>
          <a:endParaRPr lang="en-US"/>
        </a:p>
      </dgm:t>
    </dgm:pt>
    <dgm:pt modelId="{3C9F7765-775F-4E95-B257-45C367392669}" type="sibTrans" cxnId="{BC050CDF-9706-4CA6-B3F9-93E41870E1C6}">
      <dgm:prSet/>
      <dgm:spPr/>
      <dgm:t>
        <a:bodyPr/>
        <a:lstStyle/>
        <a:p>
          <a:endParaRPr lang="en-US"/>
        </a:p>
      </dgm:t>
    </dgm:pt>
    <dgm:pt modelId="{70C0717C-381F-4398-A737-3DA243D9C0A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This will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daemons,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dhcp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, unmount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, stop/start VIP NIC interface em3:0</a:t>
          </a:r>
        </a:p>
      </dgm:t>
    </dgm:pt>
    <dgm:pt modelId="{1EF12746-9D36-4466-A25D-40DDAA581E84}" type="parTrans" cxnId="{6BD1FF6C-6F21-433D-858F-E9C577BBF683}">
      <dgm:prSet/>
      <dgm:spPr/>
      <dgm:t>
        <a:bodyPr/>
        <a:lstStyle/>
        <a:p>
          <a:endParaRPr lang="en-US"/>
        </a:p>
      </dgm:t>
    </dgm:pt>
    <dgm:pt modelId="{D1339EBB-7577-488E-AA50-3CE1B8840ACF}" type="sibTrans" cxnId="{6BD1FF6C-6F21-433D-858F-E9C577BBF683}">
      <dgm:prSet/>
      <dgm:spPr/>
      <dgm:t>
        <a:bodyPr/>
        <a:lstStyle/>
        <a:p>
          <a:endParaRPr lang="en-US"/>
        </a:p>
      </dgm:t>
    </dgm:pt>
    <dgm:pt modelId="{313A881F-EA28-43C2-A9AF-10E4C0A8D7C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 is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xcatd</a:t>
          </a:r>
          <a:endParaRPr lang="en-US" sz="1500" dirty="0">
            <a:solidFill>
              <a:schemeClr val="accent1">
                <a:lumMod val="75000"/>
              </a:schemeClr>
            </a:solidFill>
          </a:endParaRPr>
        </a:p>
      </dgm:t>
    </dgm:pt>
    <dgm:pt modelId="{BFDCB2FC-C445-45C4-A4BF-59EB4F6346EE}" type="parTrans" cxnId="{37A5BBE1-EEB4-442B-B947-19C665BD4319}">
      <dgm:prSet/>
      <dgm:spPr/>
      <dgm:t>
        <a:bodyPr/>
        <a:lstStyle/>
        <a:p>
          <a:endParaRPr lang="en-US"/>
        </a:p>
      </dgm:t>
    </dgm:pt>
    <dgm:pt modelId="{84895599-8EBB-414D-B08D-8AF879027120}" type="sibTrans" cxnId="{37A5BBE1-EEB4-442B-B947-19C665BD4319}">
      <dgm:prSet/>
      <dgm:spPr/>
      <dgm:t>
        <a:bodyPr/>
        <a:lstStyle/>
        <a:p>
          <a:endParaRPr lang="en-US"/>
        </a:p>
      </dgm:t>
    </dgm:pt>
    <dgm:pt modelId="{8BAC6917-358E-41CB-9187-BCB0B85D23F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-start-</a:t>
          </a:r>
          <a:r>
            <a:rPr lang="en-US" sz="1400" dirty="0" err="1"/>
            <a:t>xcatmn</a:t>
          </a:r>
          <a:r>
            <a:rPr lang="en-US" sz="1400" dirty="0"/>
            <a:t> &gt; /home/share/</a:t>
          </a:r>
          <a:r>
            <a:rPr lang="en-US" sz="1400" dirty="0" err="1"/>
            <a:t>xCAT</a:t>
          </a:r>
          <a:r>
            <a:rPr lang="en-US" sz="1400" dirty="0"/>
            <a:t>/2.13.3/script/start-</a:t>
          </a:r>
          <a:r>
            <a:rPr lang="en-US" sz="1400" dirty="0" err="1"/>
            <a:t>xcatmn</a:t>
          </a:r>
          <a:endParaRPr lang="en-US" sz="1400" dirty="0"/>
        </a:p>
      </dgm:t>
    </dgm:pt>
    <dgm:pt modelId="{8D5C95EB-EE57-4D51-89B3-732402064844}" type="parTrans" cxnId="{976D2A6B-27CB-4F01-B8BB-4ED35F529E85}">
      <dgm:prSet/>
      <dgm:spPr/>
      <dgm:t>
        <a:bodyPr/>
        <a:lstStyle/>
        <a:p>
          <a:endParaRPr lang="en-US"/>
        </a:p>
      </dgm:t>
    </dgm:pt>
    <dgm:pt modelId="{D47692F4-AED6-4CFA-8D79-0933861FF790}" type="sibTrans" cxnId="{976D2A6B-27CB-4F01-B8BB-4ED35F529E85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1" destOrd="0" parTransId="{9E7CBAAC-B818-4F79-8811-8870464CD3F9}" sibTransId="{A9EA52C8-0DE7-4FCA-AEAB-3C2D19B0CD3D}"/>
    <dgm:cxn modelId="{670A6023-0590-4FAB-80C3-17924B0D7855}" type="presOf" srcId="{C97C131C-3F84-4C47-AB25-53F32F705EEE}" destId="{5450DF9E-E76B-4CBA-AF5E-D3B0BF5AE06E}" srcOrd="0" destOrd="3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8ECF241-C724-4979-A8AC-147503DA6D5B}" srcId="{495F97D1-97CF-4C7F-887E-4A413CDEED70}" destId="{C97C131C-3F84-4C47-AB25-53F32F705EEE}" srcOrd="3" destOrd="0" parTransId="{751F0268-1710-4DB8-949B-9625CFA71067}" sibTransId="{9922ECAD-5B73-45A9-A14C-2BAC9FE94A73}"/>
    <dgm:cxn modelId="{E0DB2B65-54BE-4C01-80CE-8544D940D3CA}" type="presOf" srcId="{8BAC6917-358E-41CB-9187-BCB0B85D23F6}" destId="{5450DF9E-E76B-4CBA-AF5E-D3B0BF5AE06E}" srcOrd="0" destOrd="5" presId="urn:microsoft.com/office/officeart/2005/8/layout/vList5"/>
    <dgm:cxn modelId="{976D2A6B-27CB-4F01-B8BB-4ED35F529E85}" srcId="{C97C131C-3F84-4C47-AB25-53F32F705EEE}" destId="{8BAC6917-358E-41CB-9187-BCB0B85D23F6}" srcOrd="1" destOrd="0" parTransId="{8D5C95EB-EE57-4D51-89B3-732402064844}" sibTransId="{D47692F4-AED6-4CFA-8D79-0933861FF790}"/>
    <dgm:cxn modelId="{6BD1FF6C-6F21-433D-858F-E9C577BBF683}" srcId="{495F97D1-97CF-4C7F-887E-4A413CDEED70}" destId="{70C0717C-381F-4398-A737-3DA243D9C0A6}" srcOrd="2" destOrd="0" parTransId="{1EF12746-9D36-4466-A25D-40DDAA581E84}" sibTransId="{D1339EBB-7577-488E-AA50-3CE1B8840ACF}"/>
    <dgm:cxn modelId="{A47650C3-72BB-4628-B341-008C6D754CC4}" type="presOf" srcId="{B4D14D36-3073-4E7D-9C2B-276E727A4A00}" destId="{5450DF9E-E76B-4CBA-AF5E-D3B0BF5AE06E}" srcOrd="0" destOrd="4" presId="urn:microsoft.com/office/officeart/2005/8/layout/vList5"/>
    <dgm:cxn modelId="{54BAF6DA-10F7-403D-AF4A-1893245326DC}" type="presOf" srcId="{1F83A440-1F7B-4DA2-98C1-4F007AC19D46}" destId="{5450DF9E-E76B-4CBA-AF5E-D3B0BF5AE06E}" srcOrd="0" destOrd="1" presId="urn:microsoft.com/office/officeart/2005/8/layout/vList5"/>
    <dgm:cxn modelId="{BC050CDF-9706-4CA6-B3F9-93E41870E1C6}" srcId="{C97C131C-3F84-4C47-AB25-53F32F705EEE}" destId="{B4D14D36-3073-4E7D-9C2B-276E727A4A00}" srcOrd="0" destOrd="0" parTransId="{71B8B5B6-8834-4AA0-A9B2-C63BF73757AF}" sibTransId="{3C9F7765-775F-4E95-B257-45C367392669}"/>
    <dgm:cxn modelId="{37A5BBE1-EEB4-442B-B947-19C665BD4319}" srcId="{495F97D1-97CF-4C7F-887E-4A413CDEED70}" destId="{313A881F-EA28-43C2-A9AF-10E4C0A8D7CB}" srcOrd="0" destOrd="0" parTransId="{BFDCB2FC-C445-45C4-A4BF-59EB4F6346EE}" sibTransId="{84895599-8EBB-414D-B08D-8AF879027120}"/>
    <dgm:cxn modelId="{5E94B4EB-5F4C-409E-896B-D98202EAE48B}" type="presOf" srcId="{313A881F-EA28-43C2-A9AF-10E4C0A8D7CB}" destId="{5450DF9E-E76B-4CBA-AF5E-D3B0BF5AE06E}" srcOrd="0" destOrd="0" presId="urn:microsoft.com/office/officeart/2005/8/layout/vList5"/>
    <dgm:cxn modelId="{C117ADED-C75A-4A96-8D89-76F3AEADA0B6}" type="presOf" srcId="{70C0717C-381F-4398-A737-3DA243D9C0A6}" destId="{5450DF9E-E76B-4CBA-AF5E-D3B0BF5AE06E}" srcOrd="0" destOrd="2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Configuration Files: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Location: /home/share/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/2.13.3/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etc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endParaRPr lang="en-US" sz="1400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C97C131C-3F84-4C47-AB25-53F32F705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configurations are stored in multiple tables on the SQLite DB – located under /</a:t>
          </a:r>
          <a:r>
            <a:rPr lang="en-US" sz="1400" dirty="0" err="1"/>
            <a:t>etc</a:t>
          </a:r>
          <a:r>
            <a:rPr lang="en-US" sz="1400" dirty="0"/>
            <a:t>/</a:t>
          </a:r>
          <a:r>
            <a:rPr lang="en-US" sz="1400" dirty="0" err="1"/>
            <a:t>xcat</a:t>
          </a:r>
          <a:r>
            <a:rPr lang="en-US" sz="1400" dirty="0"/>
            <a:t> (mount from </a:t>
          </a:r>
          <a:r>
            <a:rPr lang="en-US" sz="1400" dirty="0" err="1"/>
            <a:t>lustre</a:t>
          </a:r>
          <a:r>
            <a:rPr lang="en-US" sz="1400" dirty="0"/>
            <a:t>)</a:t>
          </a:r>
        </a:p>
      </dgm:t>
    </dgm:pt>
    <dgm:pt modelId="{751F0268-1710-4DB8-949B-9625CFA71067}" type="parTrans" cxnId="{B8ECF241-C724-4979-A8AC-147503DA6D5B}">
      <dgm:prSet/>
      <dgm:spPr/>
      <dgm:t>
        <a:bodyPr/>
        <a:lstStyle/>
        <a:p>
          <a:endParaRPr lang="en-US"/>
        </a:p>
      </dgm:t>
    </dgm:pt>
    <dgm:pt modelId="{9922ECAD-5B73-45A9-A14C-2BAC9FE94A73}" type="sibTrans" cxnId="{B8ECF241-C724-4979-A8AC-147503DA6D5B}">
      <dgm:prSet/>
      <dgm:spPr/>
      <dgm:t>
        <a:bodyPr/>
        <a:lstStyle/>
        <a:p>
          <a:endParaRPr lang="en-US"/>
        </a:p>
      </dgm:t>
    </dgm:pt>
    <dgm:pt modelId="{D99828AC-5FD7-48B4-844B-84BE81B64C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400" dirty="0"/>
        </a:p>
      </dgm:t>
    </dgm:pt>
    <dgm:pt modelId="{AF92D9E7-6668-491F-9CCA-17BD1FB57873}" type="parTrans" cxnId="{30F207D8-DEB9-4340-B8C7-44B0A0CFEE2F}">
      <dgm:prSet/>
      <dgm:spPr/>
      <dgm:t>
        <a:bodyPr/>
        <a:lstStyle/>
        <a:p>
          <a:endParaRPr lang="en-US"/>
        </a:p>
      </dgm:t>
    </dgm:pt>
    <dgm:pt modelId="{4E7755B6-1685-4ECA-A375-61CE6D0F4141}" type="sibTrans" cxnId="{30F207D8-DEB9-4340-B8C7-44B0A0CFEE2F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70A6023-0590-4FAB-80C3-17924B0D7855}" type="presOf" srcId="{C97C131C-3F84-4C47-AB25-53F32F705EEE}" destId="{5450DF9E-E76B-4CBA-AF5E-D3B0BF5AE06E}" srcOrd="0" destOrd="1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8ECF241-C724-4979-A8AC-147503DA6D5B}" srcId="{495F97D1-97CF-4C7F-887E-4A413CDEED70}" destId="{C97C131C-3F84-4C47-AB25-53F32F705EEE}" srcOrd="1" destOrd="0" parTransId="{751F0268-1710-4DB8-949B-9625CFA71067}" sibTransId="{9922ECAD-5B73-45A9-A14C-2BAC9FE94A73}"/>
    <dgm:cxn modelId="{23F5EFBF-ED2D-4372-B1E4-5C7D4A4D0CE0}" type="presOf" srcId="{D99828AC-5FD7-48B4-844B-84BE81B64CFC}" destId="{5450DF9E-E76B-4CBA-AF5E-D3B0BF5AE06E}" srcOrd="0" destOrd="2" presId="urn:microsoft.com/office/officeart/2005/8/layout/vList5"/>
    <dgm:cxn modelId="{30F207D8-DEB9-4340-B8C7-44B0A0CFEE2F}" srcId="{C97C131C-3F84-4C47-AB25-53F32F705EEE}" destId="{D99828AC-5FD7-48B4-844B-84BE81B64CFC}" srcOrd="0" destOrd="0" parTransId="{AF92D9E7-6668-491F-9CCA-17BD1FB57873}" sibTransId="{4E7755B6-1685-4ECA-A375-61CE6D0F4141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Basic Concepts: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Objects (has 20 Types): most important are node, group, </a:t>
          </a:r>
          <a:r>
            <a:rPr lang="en-US" sz="1400" dirty="0" err="1"/>
            <a:t>osimage</a:t>
          </a:r>
          <a:r>
            <a:rPr lang="en-US" sz="1400" dirty="0"/>
            <a:t> objects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881A6E3B-CAC0-4114-8656-9051B4CD4C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Global Configuration: some configuration must be set before starting using </a:t>
          </a:r>
          <a:r>
            <a:rPr lang="en-US" sz="1400" dirty="0" err="1"/>
            <a:t>xCAT</a:t>
          </a:r>
          <a:r>
            <a:rPr lang="en-US" sz="1400" dirty="0"/>
            <a:t> on the site, policy, passwd and networks table</a:t>
          </a:r>
        </a:p>
      </dgm:t>
    </dgm:pt>
    <dgm:pt modelId="{0A5ACC2B-80C5-4D87-9D1F-D5EF8D518D96}" type="parTrans" cxnId="{E9E60449-0325-410A-B34C-467D19E7B797}">
      <dgm:prSet/>
      <dgm:spPr/>
      <dgm:t>
        <a:bodyPr/>
        <a:lstStyle/>
        <a:p>
          <a:endParaRPr lang="en-US"/>
        </a:p>
      </dgm:t>
    </dgm:pt>
    <dgm:pt modelId="{15CE570A-E09A-4C3C-BC34-EA7191CC7500}" type="sibTrans" cxnId="{E9E60449-0325-410A-B34C-467D19E7B797}">
      <dgm:prSet/>
      <dgm:spPr/>
      <dgm:t>
        <a:bodyPr/>
        <a:lstStyle/>
        <a:p>
          <a:endParaRPr lang="en-US"/>
        </a:p>
      </dgm:t>
    </dgm:pt>
    <dgm:pt modelId="{8080095A-78A5-44F2-A105-0881EFEC47D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Network: requires understanding of the network in order to be able to centrally managed the servers remotely</a:t>
          </a:r>
        </a:p>
      </dgm:t>
    </dgm:pt>
    <dgm:pt modelId="{3A9CC896-7B17-4166-8DB1-BE4857780BCC}" type="parTrans" cxnId="{7521F1FD-BE94-494B-9AC2-B129C49C3FBC}">
      <dgm:prSet/>
      <dgm:spPr/>
      <dgm:t>
        <a:bodyPr/>
        <a:lstStyle/>
        <a:p>
          <a:endParaRPr lang="en-US"/>
        </a:p>
      </dgm:t>
    </dgm:pt>
    <dgm:pt modelId="{045ED97A-87AE-4E44-B937-B81F3DE27621}" type="sibTrans" cxnId="{7521F1FD-BE94-494B-9AC2-B129C49C3FBC}">
      <dgm:prSet/>
      <dgm:spPr/>
      <dgm:t>
        <a:bodyPr/>
        <a:lstStyle/>
        <a:p>
          <a:endParaRPr lang="en-US"/>
        </a:p>
      </dgm:t>
    </dgm:pt>
    <dgm:pt modelId="{410191B3-0D81-4177-AA5A-96DBA82811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Database: All data for the </a:t>
          </a:r>
          <a:r>
            <a:rPr lang="en-US" sz="1400" dirty="0" err="1"/>
            <a:t>xCAT</a:t>
          </a:r>
          <a:r>
            <a:rPr lang="en-US" sz="1400" dirty="0"/>
            <a:t> Objects and global configuration are stored in </a:t>
          </a:r>
          <a:r>
            <a:rPr lang="en-US" sz="1400" dirty="0" err="1"/>
            <a:t>xCAT</a:t>
          </a:r>
          <a:r>
            <a:rPr lang="en-US" sz="1400" dirty="0"/>
            <a:t> Database</a:t>
          </a:r>
        </a:p>
      </dgm:t>
    </dgm:pt>
    <dgm:pt modelId="{E8237125-C1DC-400D-A406-2247758D727A}" type="parTrans" cxnId="{EAF5B9C1-B8C1-43CA-AFE3-61F9C100C314}">
      <dgm:prSet/>
      <dgm:spPr/>
      <dgm:t>
        <a:bodyPr/>
        <a:lstStyle/>
        <a:p>
          <a:endParaRPr lang="en-US"/>
        </a:p>
      </dgm:t>
    </dgm:pt>
    <dgm:pt modelId="{4B935CEE-063D-4454-BBCD-6CE5585FE4D2}" type="sibTrans" cxnId="{EAF5B9C1-B8C1-43CA-AFE3-61F9C100C314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9AB3723E-A508-4407-B399-CE54CD202B4B}" type="presOf" srcId="{410191B3-0D81-4177-AA5A-96DBA8281121}" destId="{5450DF9E-E76B-4CBA-AF5E-D3B0BF5AE06E}" srcOrd="0" destOrd="2" presId="urn:microsoft.com/office/officeart/2005/8/layout/vList5"/>
    <dgm:cxn modelId="{E9E60449-0325-410A-B34C-467D19E7B797}" srcId="{495F97D1-97CF-4C7F-887E-4A413CDEED70}" destId="{881A6E3B-CAC0-4114-8656-9051B4CD4CA9}" srcOrd="1" destOrd="0" parTransId="{0A5ACC2B-80C5-4D87-9D1F-D5EF8D518D96}" sibTransId="{15CE570A-E09A-4C3C-BC34-EA7191CC7500}"/>
    <dgm:cxn modelId="{B16E3D7A-C6A1-4146-BF4E-57192804142B}" type="presOf" srcId="{881A6E3B-CAC0-4114-8656-9051B4CD4CA9}" destId="{5450DF9E-E76B-4CBA-AF5E-D3B0BF5AE06E}" srcOrd="0" destOrd="1" presId="urn:microsoft.com/office/officeart/2005/8/layout/vList5"/>
    <dgm:cxn modelId="{8D39C0C0-67BC-49CC-8DF2-F84074948187}" type="presOf" srcId="{8080095A-78A5-44F2-A105-0881EFEC47DA}" destId="{5450DF9E-E76B-4CBA-AF5E-D3B0BF5AE06E}" srcOrd="0" destOrd="3" presId="urn:microsoft.com/office/officeart/2005/8/layout/vList5"/>
    <dgm:cxn modelId="{EAF5B9C1-B8C1-43CA-AFE3-61F9C100C314}" srcId="{495F97D1-97CF-4C7F-887E-4A413CDEED70}" destId="{410191B3-0D81-4177-AA5A-96DBA8281121}" srcOrd="2" destOrd="0" parTransId="{E8237125-C1DC-400D-A406-2247758D727A}" sibTransId="{4B935CEE-063D-4454-BBCD-6CE5585FE4D2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7521F1FD-BE94-494B-9AC2-B129C49C3FBC}" srcId="{495F97D1-97CF-4C7F-887E-4A413CDEED70}" destId="{8080095A-78A5-44F2-A105-0881EFEC47DA}" srcOrd="3" destOrd="0" parTransId="{3A9CC896-7B17-4166-8DB1-BE4857780BCC}" sibTransId="{045ED97A-87AE-4E44-B937-B81F3DE27621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Manipulate </a:t>
          </a:r>
        </a:p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DB Tables: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tabdump</a:t>
          </a:r>
          <a:r>
            <a:rPr lang="en-US" sz="1400" dirty="0"/>
            <a:t>: Display headers and all rows of table in CSV format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6F77C7C9-4AEF-4AA1-B3D9-679C75ED67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tabedit</a:t>
          </a:r>
          <a:r>
            <a:rPr lang="en-US" sz="1400" dirty="0"/>
            <a:t>: Open table in edit mode in flat CSV format and save changes with :</a:t>
          </a:r>
          <a:r>
            <a:rPr lang="en-US" sz="1400" dirty="0" err="1"/>
            <a:t>wq</a:t>
          </a:r>
          <a:r>
            <a:rPr lang="en-US" sz="1400" dirty="0"/>
            <a:t> (like vi)</a:t>
          </a:r>
        </a:p>
      </dgm:t>
    </dgm:pt>
    <dgm:pt modelId="{ABE0B903-1FB0-41AE-B8A6-EBD068029674}" type="parTrans" cxnId="{B58EE75B-92FC-4DF8-9A5D-3977416F6373}">
      <dgm:prSet/>
      <dgm:spPr/>
      <dgm:t>
        <a:bodyPr/>
        <a:lstStyle/>
        <a:p>
          <a:endParaRPr lang="en-US"/>
        </a:p>
      </dgm:t>
    </dgm:pt>
    <dgm:pt modelId="{3836081D-7D51-430D-A3AE-0A388C6C80E0}" type="sibTrans" cxnId="{B58EE75B-92FC-4DF8-9A5D-3977416F6373}">
      <dgm:prSet/>
      <dgm:spPr/>
      <dgm:t>
        <a:bodyPr/>
        <a:lstStyle/>
        <a:p>
          <a:endParaRPr lang="en-US"/>
        </a:p>
      </dgm:t>
    </dgm:pt>
    <dgm:pt modelId="{B3C77E09-6F02-48BF-9F4E-AD26329E15B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tabgrep</a:t>
          </a:r>
          <a:r>
            <a:rPr lang="en-US" sz="1400" dirty="0"/>
            <a:t>: List table names in which an entry for the given node appears</a:t>
          </a:r>
        </a:p>
      </dgm:t>
    </dgm:pt>
    <dgm:pt modelId="{65E02726-661A-4E24-BFC9-7D41567B699E}" type="parTrans" cxnId="{FDC69E56-D4F0-4D2E-A999-A6C78ACF920B}">
      <dgm:prSet/>
      <dgm:spPr/>
      <dgm:t>
        <a:bodyPr/>
        <a:lstStyle/>
        <a:p>
          <a:endParaRPr lang="en-US"/>
        </a:p>
      </dgm:t>
    </dgm:pt>
    <dgm:pt modelId="{182D51BE-DEC9-4946-AD35-80AA6B100FEC}" type="sibTrans" cxnId="{FDC69E56-D4F0-4D2E-A999-A6C78ACF920B}">
      <dgm:prSet/>
      <dgm:spPr/>
      <dgm:t>
        <a:bodyPr/>
        <a:lstStyle/>
        <a:p>
          <a:endParaRPr lang="en-US"/>
        </a:p>
      </dgm:t>
    </dgm:pt>
    <dgm:pt modelId="{9C37A192-85D3-4EC5-A357-2AEC5FE8A57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Sample: </a:t>
          </a:r>
          <a:r>
            <a:rPr lang="en-US" sz="1400" dirty="0" err="1"/>
            <a:t>tabdump</a:t>
          </a:r>
          <a:r>
            <a:rPr lang="en-US" sz="1400" dirty="0"/>
            <a:t> site | </a:t>
          </a:r>
          <a:r>
            <a:rPr lang="en-US" sz="1400" dirty="0" err="1"/>
            <a:t>tabedit</a:t>
          </a:r>
          <a:r>
            <a:rPr lang="en-US" sz="1400" dirty="0"/>
            <a:t> site | </a:t>
          </a:r>
          <a:r>
            <a:rPr lang="en-US" sz="1400" dirty="0" err="1"/>
            <a:t>tabgrep</a:t>
          </a:r>
          <a:r>
            <a:rPr lang="en-US" sz="1400" dirty="0"/>
            <a:t> n055 | </a:t>
          </a:r>
          <a:r>
            <a:rPr lang="en-US" sz="1400" dirty="0" err="1"/>
            <a:t>chtab</a:t>
          </a:r>
          <a:r>
            <a:rPr lang="en-US" sz="1400" dirty="0"/>
            <a:t> node=node1 </a:t>
          </a:r>
          <a:r>
            <a:rPr lang="en-US" sz="1400" dirty="0" err="1"/>
            <a:t>nodelist.groups</a:t>
          </a:r>
          <a:r>
            <a:rPr lang="en-US" sz="1400" dirty="0"/>
            <a:t>=all</a:t>
          </a:r>
        </a:p>
      </dgm:t>
    </dgm:pt>
    <dgm:pt modelId="{E150BB46-4845-4DE2-B3D1-6196F343055F}" type="parTrans" cxnId="{C4B3B2C2-A9A4-4801-AF23-9500B41FE841}">
      <dgm:prSet/>
      <dgm:spPr/>
      <dgm:t>
        <a:bodyPr/>
        <a:lstStyle/>
        <a:p>
          <a:endParaRPr lang="en-US"/>
        </a:p>
      </dgm:t>
    </dgm:pt>
    <dgm:pt modelId="{A056B0EF-02C0-400C-9D7C-329D795B52BD}" type="sibTrans" cxnId="{C4B3B2C2-A9A4-4801-AF23-9500B41FE841}">
      <dgm:prSet/>
      <dgm:spPr/>
      <dgm:t>
        <a:bodyPr/>
        <a:lstStyle/>
        <a:p>
          <a:endParaRPr lang="en-US"/>
        </a:p>
      </dgm:t>
    </dgm:pt>
    <dgm:pt modelId="{CE3CA128-034A-40C0-A757-864BDE8ABF7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dirty="0" err="1"/>
            <a:t>chtab</a:t>
          </a:r>
          <a:r>
            <a:rPr lang="en-US" sz="1400" b="0" dirty="0"/>
            <a:t>: Add/delete/update rows in the database tables</a:t>
          </a:r>
        </a:p>
      </dgm:t>
    </dgm:pt>
    <dgm:pt modelId="{611BFDF5-600A-4274-AEDF-3C68653A7D08}" type="parTrans" cxnId="{3774D1E5-F9B3-4AB6-8162-A5BC76A93DC1}">
      <dgm:prSet/>
      <dgm:spPr/>
      <dgm:t>
        <a:bodyPr/>
        <a:lstStyle/>
        <a:p>
          <a:endParaRPr lang="en-US"/>
        </a:p>
      </dgm:t>
    </dgm:pt>
    <dgm:pt modelId="{80D20B07-D2D2-4E2D-92A0-63C4E1365590}" type="sibTrans" cxnId="{3774D1E5-F9B3-4AB6-8162-A5BC76A93DC1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0EFD4024-B3B9-4ED2-B747-482318CDA037}" type="presOf" srcId="{9C37A192-85D3-4EC5-A357-2AEC5FE8A578}" destId="{5450DF9E-E76B-4CBA-AF5E-D3B0BF5AE06E}" srcOrd="0" destOrd="4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58EE75B-92FC-4DF8-9A5D-3977416F6373}" srcId="{495F97D1-97CF-4C7F-887E-4A413CDEED70}" destId="{6F77C7C9-4AEF-4AA1-B3D9-679C75ED67C5}" srcOrd="1" destOrd="0" parTransId="{ABE0B903-1FB0-41AE-B8A6-EBD068029674}" sibTransId="{3836081D-7D51-430D-A3AE-0A388C6C80E0}"/>
    <dgm:cxn modelId="{AC782A5F-3775-48C2-83B5-5519ED252975}" type="presOf" srcId="{6F77C7C9-4AEF-4AA1-B3D9-679C75ED67C5}" destId="{5450DF9E-E76B-4CBA-AF5E-D3B0BF5AE06E}" srcOrd="0" destOrd="1" presId="urn:microsoft.com/office/officeart/2005/8/layout/vList5"/>
    <dgm:cxn modelId="{1C320F6A-935A-4A83-81A9-F7604923B235}" type="presOf" srcId="{B3C77E09-6F02-48BF-9F4E-AD26329E15BA}" destId="{5450DF9E-E76B-4CBA-AF5E-D3B0BF5AE06E}" srcOrd="0" destOrd="3" presId="urn:microsoft.com/office/officeart/2005/8/layout/vList5"/>
    <dgm:cxn modelId="{FDC69E56-D4F0-4D2E-A999-A6C78ACF920B}" srcId="{495F97D1-97CF-4C7F-887E-4A413CDEED70}" destId="{B3C77E09-6F02-48BF-9F4E-AD26329E15BA}" srcOrd="3" destOrd="0" parTransId="{65E02726-661A-4E24-BFC9-7D41567B699E}" sibTransId="{182D51BE-DEC9-4946-AD35-80AA6B100FEC}"/>
    <dgm:cxn modelId="{C4B3B2C2-A9A4-4801-AF23-9500B41FE841}" srcId="{495F97D1-97CF-4C7F-887E-4A413CDEED70}" destId="{9C37A192-85D3-4EC5-A357-2AEC5FE8A578}" srcOrd="4" destOrd="0" parTransId="{E150BB46-4845-4DE2-B3D1-6196F343055F}" sibTransId="{A056B0EF-02C0-400C-9D7C-329D795B52BD}"/>
    <dgm:cxn modelId="{82E696D7-946D-4EA0-B606-4B94C198A1E7}" type="presOf" srcId="{CE3CA128-034A-40C0-A757-864BDE8ABF7F}" destId="{5450DF9E-E76B-4CBA-AF5E-D3B0BF5AE06E}" srcOrd="0" destOrd="2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3774D1E5-F9B3-4AB6-8162-A5BC76A93DC1}" srcId="{495F97D1-97CF-4C7F-887E-4A413CDEED70}" destId="{CE3CA128-034A-40C0-A757-864BDE8ABF7F}" srcOrd="2" destOrd="0" parTransId="{611BFDF5-600A-4274-AEDF-3C68653A7D08}" sibTransId="{80D20B07-D2D2-4E2D-92A0-63C4E1365590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Global Configuration: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C56E054C-7DBB-45FA-9A50-7B5D2CF55D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site: Global settings for entire cluster (</a:t>
          </a:r>
          <a:r>
            <a:rPr lang="en-US" sz="1400" dirty="0" err="1"/>
            <a:t>tabdump</a:t>
          </a:r>
          <a:r>
            <a:rPr lang="en-US" sz="1400" dirty="0"/>
            <a:t> site)</a:t>
          </a:r>
        </a:p>
      </dgm:t>
    </dgm:pt>
    <dgm:pt modelId="{D88DF3EB-4DC3-49DC-AB18-5666645CC6D5}" type="parTrans" cxnId="{018F9EDC-C441-4AE0-BEA5-C01DEF30D297}">
      <dgm:prSet/>
      <dgm:spPr/>
      <dgm:t>
        <a:bodyPr/>
        <a:lstStyle/>
        <a:p>
          <a:endParaRPr lang="en-US"/>
        </a:p>
      </dgm:t>
    </dgm:pt>
    <dgm:pt modelId="{5D3F7A49-0C26-4D0A-99B8-9DBAF148B6F2}" type="sibTrans" cxnId="{018F9EDC-C441-4AE0-BEA5-C01DEF30D297}">
      <dgm:prSet/>
      <dgm:spPr/>
      <dgm:t>
        <a:bodyPr/>
        <a:lstStyle/>
        <a:p>
          <a:endParaRPr lang="en-US"/>
        </a:p>
      </dgm:t>
    </dgm:pt>
    <dgm:pt modelId="{7CF1A99A-F2B9-4064-9ED3-9006E407657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policy: Controls who has authority to run specific </a:t>
          </a:r>
          <a:r>
            <a:rPr lang="en-US" sz="1400" dirty="0" err="1"/>
            <a:t>xCAT</a:t>
          </a:r>
          <a:r>
            <a:rPr lang="en-US" sz="1400" dirty="0"/>
            <a:t> operations (ACL)</a:t>
          </a:r>
        </a:p>
      </dgm:t>
    </dgm:pt>
    <dgm:pt modelId="{50ADC2A9-E0F5-4977-BD7A-46AA7D11067C}" type="parTrans" cxnId="{BC219E10-5B01-405B-8652-47658475EE5C}">
      <dgm:prSet/>
      <dgm:spPr/>
      <dgm:t>
        <a:bodyPr/>
        <a:lstStyle/>
        <a:p>
          <a:endParaRPr lang="en-US"/>
        </a:p>
      </dgm:t>
    </dgm:pt>
    <dgm:pt modelId="{C6E8B953-725D-4707-B757-7AA2984E8FB2}" type="sibTrans" cxnId="{BC219E10-5B01-405B-8652-47658475EE5C}">
      <dgm:prSet/>
      <dgm:spPr/>
      <dgm:t>
        <a:bodyPr/>
        <a:lstStyle/>
        <a:p>
          <a:endParaRPr lang="en-US"/>
        </a:p>
      </dgm:t>
    </dgm:pt>
    <dgm:pt modelId="{3BF0F698-A9C6-406C-9DEA-9B2415D24B9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passwd: Contains default </a:t>
          </a:r>
          <a:r>
            <a:rPr lang="en-US" sz="1400" dirty="0" err="1"/>
            <a:t>userids</a:t>
          </a:r>
          <a:r>
            <a:rPr lang="en-US" sz="1400" dirty="0"/>
            <a:t> and passwords for </a:t>
          </a:r>
          <a:r>
            <a:rPr lang="en-US" sz="1400" dirty="0" err="1"/>
            <a:t>xCAT</a:t>
          </a:r>
          <a:r>
            <a:rPr lang="en-US" sz="1400" dirty="0"/>
            <a:t> to access cluster components used during config/install and for SP (</a:t>
          </a:r>
          <a:r>
            <a:rPr lang="en-US" sz="1400" dirty="0" err="1"/>
            <a:t>bmc</a:t>
          </a:r>
          <a:r>
            <a:rPr lang="en-US" sz="1400" dirty="0"/>
            <a:t>)</a:t>
          </a:r>
        </a:p>
      </dgm:t>
    </dgm:pt>
    <dgm:pt modelId="{4B6B98C5-3BB7-419A-BD50-C60E4973DD42}" type="parTrans" cxnId="{BF01C3BD-F6C0-49E4-8D0F-81EEB6BC10E7}">
      <dgm:prSet/>
      <dgm:spPr/>
      <dgm:t>
        <a:bodyPr/>
        <a:lstStyle/>
        <a:p>
          <a:endParaRPr lang="en-US"/>
        </a:p>
      </dgm:t>
    </dgm:pt>
    <dgm:pt modelId="{293E375E-1A6F-44AC-813C-144D0F1D9E7F}" type="sibTrans" cxnId="{BF01C3BD-F6C0-49E4-8D0F-81EEB6BC10E7}">
      <dgm:prSet/>
      <dgm:spPr/>
      <dgm:t>
        <a:bodyPr/>
        <a:lstStyle/>
        <a:p>
          <a:endParaRPr lang="en-US"/>
        </a:p>
      </dgm:t>
    </dgm:pt>
    <dgm:pt modelId="{75F60DED-568C-462D-836C-6C6A53B79CF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networks: Contains the network definitions in the cluster</a:t>
          </a:r>
        </a:p>
      </dgm:t>
    </dgm:pt>
    <dgm:pt modelId="{0DDC64F3-3842-44AE-855D-9EE18288BECE}" type="parTrans" cxnId="{5534A3C1-723A-4E87-A1FB-5A94A437A15A}">
      <dgm:prSet/>
      <dgm:spPr/>
      <dgm:t>
        <a:bodyPr/>
        <a:lstStyle/>
        <a:p>
          <a:endParaRPr lang="en-US"/>
        </a:p>
      </dgm:t>
    </dgm:pt>
    <dgm:pt modelId="{B1A1DAA2-E63D-417D-88A1-D964119A2301}" type="sibTrans" cxnId="{5534A3C1-723A-4E87-A1FB-5A94A437A15A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 custLinFactNeighborY="-4438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25122" custLinFactNeighborX="136" custLinFactNeighborY="1417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8FAF1F06-5FEA-4267-A62D-1C9062DD0201}" type="presOf" srcId="{7CF1A99A-F2B9-4064-9ED3-9006E407657E}" destId="{5450DF9E-E76B-4CBA-AF5E-D3B0BF5AE06E}" srcOrd="0" destOrd="1" presId="urn:microsoft.com/office/officeart/2005/8/layout/vList5"/>
    <dgm:cxn modelId="{BC219E10-5B01-405B-8652-47658475EE5C}" srcId="{495F97D1-97CF-4C7F-887E-4A413CDEED70}" destId="{7CF1A99A-F2B9-4064-9ED3-9006E407657E}" srcOrd="1" destOrd="0" parTransId="{50ADC2A9-E0F5-4977-BD7A-46AA7D11067C}" sibTransId="{C6E8B953-725D-4707-B757-7AA2984E8FB2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8293748E-4E02-40C8-BFED-324DBCE6ADAF}" type="presOf" srcId="{3BF0F698-A9C6-406C-9DEA-9B2415D24B93}" destId="{5450DF9E-E76B-4CBA-AF5E-D3B0BF5AE06E}" srcOrd="0" destOrd="2" presId="urn:microsoft.com/office/officeart/2005/8/layout/vList5"/>
    <dgm:cxn modelId="{D81235A9-3BD3-4022-9527-3E3CBB696A92}" type="presOf" srcId="{75F60DED-568C-462D-836C-6C6A53B79CF4}" destId="{5450DF9E-E76B-4CBA-AF5E-D3B0BF5AE06E}" srcOrd="0" destOrd="3" presId="urn:microsoft.com/office/officeart/2005/8/layout/vList5"/>
    <dgm:cxn modelId="{BF01C3BD-F6C0-49E4-8D0F-81EEB6BC10E7}" srcId="{495F97D1-97CF-4C7F-887E-4A413CDEED70}" destId="{3BF0F698-A9C6-406C-9DEA-9B2415D24B93}" srcOrd="2" destOrd="0" parTransId="{4B6B98C5-3BB7-419A-BD50-C60E4973DD42}" sibTransId="{293E375E-1A6F-44AC-813C-144D0F1D9E7F}"/>
    <dgm:cxn modelId="{5534A3C1-723A-4E87-A1FB-5A94A437A15A}" srcId="{495F97D1-97CF-4C7F-887E-4A413CDEED70}" destId="{75F60DED-568C-462D-836C-6C6A53B79CF4}" srcOrd="3" destOrd="0" parTransId="{0DDC64F3-3842-44AE-855D-9EE18288BECE}" sibTransId="{B1A1DAA2-E63D-417D-88A1-D964119A2301}"/>
    <dgm:cxn modelId="{B3203FDC-86A1-4696-B7E5-4FF22D09475A}" type="presOf" srcId="{C56E054C-7DBB-45FA-9A50-7B5D2CF55D62}" destId="{5450DF9E-E76B-4CBA-AF5E-D3B0BF5AE06E}" srcOrd="0" destOrd="0" presId="urn:microsoft.com/office/officeart/2005/8/layout/vList5"/>
    <dgm:cxn modelId="{018F9EDC-C441-4AE0-BEA5-C01DEF30D297}" srcId="{495F97D1-97CF-4C7F-887E-4A413CDEED70}" destId="{C56E054C-7DBB-45FA-9A50-7B5D2CF55D62}" srcOrd="0" destOrd="0" parTransId="{D88DF3EB-4DC3-49DC-AB18-5666645CC6D5}" sibTransId="{5D3F7A49-0C26-4D0A-99B8-9DBAF148B6F2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Objects: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C56E054C-7DBB-45FA-9A50-7B5D2CF55D62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has 20 types of objects - most important are:</a:t>
          </a:r>
        </a:p>
      </dgm:t>
    </dgm:pt>
    <dgm:pt modelId="{D88DF3EB-4DC3-49DC-AB18-5666645CC6D5}" type="parTrans" cxnId="{018F9EDC-C441-4AE0-BEA5-C01DEF30D297}">
      <dgm:prSet/>
      <dgm:spPr/>
      <dgm:t>
        <a:bodyPr/>
        <a:lstStyle/>
        <a:p>
          <a:endParaRPr lang="en-US"/>
        </a:p>
      </dgm:t>
    </dgm:pt>
    <dgm:pt modelId="{5D3F7A49-0C26-4D0A-99B8-9DBAF148B6F2}" type="sibTrans" cxnId="{018F9EDC-C441-4AE0-BEA5-C01DEF30D297}">
      <dgm:prSet/>
      <dgm:spPr/>
      <dgm:t>
        <a:bodyPr/>
        <a:lstStyle/>
        <a:p>
          <a:endParaRPr lang="en-US"/>
        </a:p>
      </dgm:t>
    </dgm:pt>
    <dgm:pt modelId="{8CF0DC92-E480-4DBC-AD16-65B67D0A877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Node Object: The </a:t>
          </a:r>
          <a:r>
            <a:rPr lang="en-US" sz="1400" b="0" dirty="0"/>
            <a:t>node</a:t>
          </a:r>
          <a:r>
            <a:rPr lang="en-US" sz="1400" dirty="0"/>
            <a:t> is the most important and used object in </a:t>
          </a:r>
          <a:r>
            <a:rPr lang="en-US" sz="1400" dirty="0" err="1"/>
            <a:t>xCAT</a:t>
          </a:r>
          <a:endParaRPr lang="en-US" sz="1400" dirty="0"/>
        </a:p>
      </dgm:t>
    </dgm:pt>
    <dgm:pt modelId="{60F6D81D-CA0C-4BCB-A185-C3F49D4F3E7A}" type="parTrans" cxnId="{A448809F-A04A-46B3-BFDA-25325CECFBF3}">
      <dgm:prSet/>
      <dgm:spPr/>
      <dgm:t>
        <a:bodyPr/>
        <a:lstStyle/>
        <a:p>
          <a:endParaRPr lang="en-US"/>
        </a:p>
      </dgm:t>
    </dgm:pt>
    <dgm:pt modelId="{36F7E2E6-34FB-49FE-9AA5-CAFE8CB4969A}" type="sibTrans" cxnId="{A448809F-A04A-46B3-BFDA-25325CECFBF3}">
      <dgm:prSet/>
      <dgm:spPr/>
      <dgm:t>
        <a:bodyPr/>
        <a:lstStyle/>
        <a:p>
          <a:endParaRPr lang="en-US"/>
        </a:p>
      </dgm:t>
    </dgm:pt>
    <dgm:pt modelId="{E9D8BE4F-192F-44E6-B27D-8A2FB360986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Group Object: Includes multiple </a:t>
          </a:r>
          <a:r>
            <a:rPr lang="en-US" sz="1400" b="0" dirty="0"/>
            <a:t>node object, help handle</a:t>
          </a:r>
          <a:endParaRPr lang="en-US" sz="1400" dirty="0"/>
        </a:p>
      </dgm:t>
    </dgm:pt>
    <dgm:pt modelId="{08CD4DFD-482A-4AF1-8DC1-392171BDD2A0}" type="parTrans" cxnId="{2F405BCD-1BCE-484D-9712-800D6D7FD972}">
      <dgm:prSet/>
      <dgm:spPr/>
      <dgm:t>
        <a:bodyPr/>
        <a:lstStyle/>
        <a:p>
          <a:endParaRPr lang="en-US"/>
        </a:p>
      </dgm:t>
    </dgm:pt>
    <dgm:pt modelId="{DD005634-5AA8-437F-A739-15E305FF4E61}" type="sibTrans" cxnId="{2F405BCD-1BCE-484D-9712-800D6D7FD972}">
      <dgm:prSet/>
      <dgm:spPr/>
      <dgm:t>
        <a:bodyPr/>
        <a:lstStyle/>
        <a:p>
          <a:endParaRPr lang="en-US"/>
        </a:p>
      </dgm:t>
    </dgm:pt>
    <dgm:pt modelId="{5B8B1D10-BBDF-4210-BDF6-99AC00CF590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</a:t>
          </a:r>
          <a:r>
            <a:rPr lang="en-US" sz="1400" dirty="0" err="1"/>
            <a:t>Osimage</a:t>
          </a:r>
          <a:r>
            <a:rPr lang="en-US" sz="1400" dirty="0"/>
            <a:t> Object: object represents Operating System which</a:t>
          </a:r>
        </a:p>
      </dgm:t>
    </dgm:pt>
    <dgm:pt modelId="{9A3EF9D7-BEEB-40B1-82E3-76B9AC986F40}" type="parTrans" cxnId="{EE5278F8-4B5F-467E-B59C-AAA3A70D87FA}">
      <dgm:prSet/>
      <dgm:spPr/>
      <dgm:t>
        <a:bodyPr/>
        <a:lstStyle/>
        <a:p>
          <a:endParaRPr lang="en-US"/>
        </a:p>
      </dgm:t>
    </dgm:pt>
    <dgm:pt modelId="{9718CC75-0680-4C9A-9A9E-B2E0363C1F10}" type="sibTrans" cxnId="{EE5278F8-4B5F-467E-B59C-AAA3A70D87FA}">
      <dgm:prSet/>
      <dgm:spPr/>
      <dgm:t>
        <a:bodyPr/>
        <a:lstStyle/>
        <a:p>
          <a:endParaRPr lang="en-US"/>
        </a:p>
      </dgm:t>
    </dgm:pt>
    <dgm:pt modelId="{A9298C5E-41DE-4488-8D0A-FE43D8E1C847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b="0" dirty="0"/>
            <a:t>multiple nodes via group. Node Inherit attributes from group</a:t>
          </a:r>
          <a:endParaRPr lang="en-US" sz="1400" dirty="0"/>
        </a:p>
      </dgm:t>
    </dgm:pt>
    <dgm:pt modelId="{E24992ED-DC06-4038-BFA7-4B084345DF9E}" type="parTrans" cxnId="{093BDEED-D2A8-4A2F-B9B6-450FDB6DC117}">
      <dgm:prSet/>
      <dgm:spPr/>
      <dgm:t>
        <a:bodyPr/>
        <a:lstStyle/>
        <a:p>
          <a:endParaRPr lang="en-US"/>
        </a:p>
      </dgm:t>
    </dgm:pt>
    <dgm:pt modelId="{8531790C-5B82-4B09-93C5-C84C32321692}" type="sibTrans" cxnId="{093BDEED-D2A8-4A2F-B9B6-450FDB6DC117}">
      <dgm:prSet/>
      <dgm:spPr/>
      <dgm:t>
        <a:bodyPr/>
        <a:lstStyle/>
        <a:p>
          <a:endParaRPr lang="en-US"/>
        </a:p>
      </dgm:t>
    </dgm:pt>
    <dgm:pt modelId="{AD67DCF3-BAE8-4E56-8644-07900AD6945D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b="0" dirty="0"/>
            <a:t>objects (</a:t>
          </a:r>
          <a:r>
            <a:rPr lang="en-US" sz="1400" b="0" dirty="0" err="1"/>
            <a:t>rpower</a:t>
          </a:r>
          <a:r>
            <a:rPr lang="en-US" sz="1400" b="0" dirty="0"/>
            <a:t> </a:t>
          </a:r>
          <a:r>
            <a:rPr lang="en-US" sz="1400" b="0" dirty="0" err="1"/>
            <a:t>groupname</a:t>
          </a:r>
          <a:r>
            <a:rPr lang="en-US" sz="1400" b="0" dirty="0"/>
            <a:t> stat vs </a:t>
          </a:r>
          <a:r>
            <a:rPr lang="en-US" sz="1400" b="0" dirty="0" err="1"/>
            <a:t>rpower</a:t>
          </a:r>
          <a:r>
            <a:rPr lang="en-US" sz="1400" b="0" dirty="0"/>
            <a:t> node stat)</a:t>
          </a:r>
          <a:endParaRPr lang="en-US" sz="1400" dirty="0"/>
        </a:p>
      </dgm:t>
    </dgm:pt>
    <dgm:pt modelId="{1F3B9C1E-870D-4BA6-90C1-924C5C8AB684}" type="parTrans" cxnId="{2C180508-EFD5-4268-8E0B-2D1BFCE8A9D5}">
      <dgm:prSet/>
      <dgm:spPr/>
      <dgm:t>
        <a:bodyPr/>
        <a:lstStyle/>
        <a:p>
          <a:endParaRPr lang="en-US"/>
        </a:p>
      </dgm:t>
    </dgm:pt>
    <dgm:pt modelId="{AD820568-59C2-4483-8227-26543EF78D5C}" type="sibTrans" cxnId="{2C180508-EFD5-4268-8E0B-2D1BFCE8A9D5}">
      <dgm:prSet/>
      <dgm:spPr/>
      <dgm:t>
        <a:bodyPr/>
        <a:lstStyle/>
        <a:p>
          <a:endParaRPr lang="en-US"/>
        </a:p>
      </dgm:t>
    </dgm:pt>
    <dgm:pt modelId="{AE21D0A3-0E08-4A83-B992-C318303EB73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can be deployed with </a:t>
          </a:r>
          <a:r>
            <a:rPr lang="en-US" sz="1400" dirty="0" err="1"/>
            <a:t>xCAT</a:t>
          </a:r>
          <a:r>
            <a:rPr lang="en-US" sz="1400" dirty="0"/>
            <a:t> (centos7.8, centos7.9)</a:t>
          </a:r>
        </a:p>
      </dgm:t>
    </dgm:pt>
    <dgm:pt modelId="{2FEEA9D2-EA86-4E9F-AE54-BEB1F0F55F6E}" type="parTrans" cxnId="{0A06778C-CD1D-425F-B018-8967EF5B38E6}">
      <dgm:prSet/>
      <dgm:spPr/>
      <dgm:t>
        <a:bodyPr/>
        <a:lstStyle/>
        <a:p>
          <a:endParaRPr lang="en-US"/>
        </a:p>
      </dgm:t>
    </dgm:pt>
    <dgm:pt modelId="{E8FCD5A3-FDC1-4124-A70D-B7A16F39FB50}" type="sibTrans" cxnId="{0A06778C-CD1D-425F-B018-8967EF5B38E6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100098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25122" custLinFactNeighborX="136" custLinFactNeighborY="1565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2C180508-EFD5-4268-8E0B-2D1BFCE8A9D5}" srcId="{495F97D1-97CF-4C7F-887E-4A413CDEED70}" destId="{AD67DCF3-BAE8-4E56-8644-07900AD6945D}" srcOrd="4" destOrd="0" parTransId="{1F3B9C1E-870D-4BA6-90C1-924C5C8AB684}" sibTransId="{AD820568-59C2-4483-8227-26543EF78D5C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7CB23F4D-3032-4392-9D4A-AC7EDE11259C}" type="presOf" srcId="{AD67DCF3-BAE8-4E56-8644-07900AD6945D}" destId="{5450DF9E-E76B-4CBA-AF5E-D3B0BF5AE06E}" srcOrd="0" destOrd="4" presId="urn:microsoft.com/office/officeart/2005/8/layout/vList5"/>
    <dgm:cxn modelId="{63AE4A7C-5FB8-4DA7-930C-835D7DCB6A29}" type="presOf" srcId="{AE21D0A3-0E08-4A83-B992-C318303EB733}" destId="{5450DF9E-E76B-4CBA-AF5E-D3B0BF5AE06E}" srcOrd="0" destOrd="6" presId="urn:microsoft.com/office/officeart/2005/8/layout/vList5"/>
    <dgm:cxn modelId="{D0EE8C7D-B1BE-4BC3-ACA5-71122B30499B}" type="presOf" srcId="{A9298C5E-41DE-4488-8D0A-FE43D8E1C847}" destId="{5450DF9E-E76B-4CBA-AF5E-D3B0BF5AE06E}" srcOrd="0" destOrd="3" presId="urn:microsoft.com/office/officeart/2005/8/layout/vList5"/>
    <dgm:cxn modelId="{0A06778C-CD1D-425F-B018-8967EF5B38E6}" srcId="{495F97D1-97CF-4C7F-887E-4A413CDEED70}" destId="{AE21D0A3-0E08-4A83-B992-C318303EB733}" srcOrd="6" destOrd="0" parTransId="{2FEEA9D2-EA86-4E9F-AE54-BEB1F0F55F6E}" sibTransId="{E8FCD5A3-FDC1-4124-A70D-B7A16F39FB50}"/>
    <dgm:cxn modelId="{22375C92-4ABE-45D8-9FD6-1E4025E974A3}" type="presOf" srcId="{5B8B1D10-BBDF-4210-BDF6-99AC00CF5906}" destId="{5450DF9E-E76B-4CBA-AF5E-D3B0BF5AE06E}" srcOrd="0" destOrd="5" presId="urn:microsoft.com/office/officeart/2005/8/layout/vList5"/>
    <dgm:cxn modelId="{DC4C5C9C-CC2F-4EB4-9C8E-8455702E6D3C}" type="presOf" srcId="{8CF0DC92-E480-4DBC-AD16-65B67D0A8771}" destId="{5450DF9E-E76B-4CBA-AF5E-D3B0BF5AE06E}" srcOrd="0" destOrd="1" presId="urn:microsoft.com/office/officeart/2005/8/layout/vList5"/>
    <dgm:cxn modelId="{A448809F-A04A-46B3-BFDA-25325CECFBF3}" srcId="{495F97D1-97CF-4C7F-887E-4A413CDEED70}" destId="{8CF0DC92-E480-4DBC-AD16-65B67D0A8771}" srcOrd="1" destOrd="0" parTransId="{60F6D81D-CA0C-4BCB-A185-C3F49D4F3E7A}" sibTransId="{36F7E2E6-34FB-49FE-9AA5-CAFE8CB4969A}"/>
    <dgm:cxn modelId="{12C113C1-8B0F-4E1A-9E00-45245A839CC3}" type="presOf" srcId="{E9D8BE4F-192F-44E6-B27D-8A2FB3609861}" destId="{5450DF9E-E76B-4CBA-AF5E-D3B0BF5AE06E}" srcOrd="0" destOrd="2" presId="urn:microsoft.com/office/officeart/2005/8/layout/vList5"/>
    <dgm:cxn modelId="{2F405BCD-1BCE-484D-9712-800D6D7FD972}" srcId="{495F97D1-97CF-4C7F-887E-4A413CDEED70}" destId="{E9D8BE4F-192F-44E6-B27D-8A2FB3609861}" srcOrd="2" destOrd="0" parTransId="{08CD4DFD-482A-4AF1-8DC1-392171BDD2A0}" sibTransId="{DD005634-5AA8-437F-A739-15E305FF4E61}"/>
    <dgm:cxn modelId="{B3203FDC-86A1-4696-B7E5-4FF22D09475A}" type="presOf" srcId="{C56E054C-7DBB-45FA-9A50-7B5D2CF55D62}" destId="{5450DF9E-E76B-4CBA-AF5E-D3B0BF5AE06E}" srcOrd="0" destOrd="0" presId="urn:microsoft.com/office/officeart/2005/8/layout/vList5"/>
    <dgm:cxn modelId="{018F9EDC-C441-4AE0-BEA5-C01DEF30D297}" srcId="{495F97D1-97CF-4C7F-887E-4A413CDEED70}" destId="{C56E054C-7DBB-45FA-9A50-7B5D2CF55D62}" srcOrd="0" destOrd="0" parTransId="{D88DF3EB-4DC3-49DC-AB18-5666645CC6D5}" sibTransId="{5D3F7A49-0C26-4D0A-99B8-9DBAF148B6F2}"/>
    <dgm:cxn modelId="{093BDEED-D2A8-4A2F-B9B6-450FDB6DC117}" srcId="{495F97D1-97CF-4C7F-887E-4A413CDEED70}" destId="{A9298C5E-41DE-4488-8D0A-FE43D8E1C847}" srcOrd="3" destOrd="0" parTransId="{E24992ED-DC06-4038-BFA7-4B084345DF9E}" sibTransId="{8531790C-5B82-4B09-93C5-C84C32321692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EE5278F8-4B5F-467E-B59C-AAA3A70D87FA}" srcId="{495F97D1-97CF-4C7F-887E-4A413CDEED70}" destId="{5B8B1D10-BBDF-4210-BDF6-99AC00CF5906}" srcOrd="5" destOrd="0" parTransId="{9A3EF9D7-BEEB-40B1-82E3-76B9AC986F40}" sibTransId="{9718CC75-0680-4C9A-9A9E-B2E0363C1F10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Backup: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dumpxCATdb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: Dump all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db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tables to CSV files under specified directory (often used for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reinstallation or migration)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4BCE76B7-14DD-4808-AB52-DB9294493CB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Daily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cron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job to backup DB tables (7 days kept in /home/share/scripts/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/compressed)</a:t>
          </a:r>
        </a:p>
      </dgm:t>
    </dgm:pt>
    <dgm:pt modelId="{BBF521FB-BE96-4D16-A239-CC38D097CF3D}" type="parTrans" cxnId="{EA661CBD-9650-479A-A289-4E2106493A7D}">
      <dgm:prSet/>
      <dgm:spPr/>
      <dgm:t>
        <a:bodyPr/>
        <a:lstStyle/>
        <a:p>
          <a:endParaRPr lang="en-US"/>
        </a:p>
      </dgm:t>
    </dgm:pt>
    <dgm:pt modelId="{18AF8BC7-5BC2-4A2D-A37C-47774BFDE976}" type="sibTrans" cxnId="{EA661CBD-9650-479A-A289-4E2106493A7D}">
      <dgm:prSet/>
      <dgm:spPr/>
      <dgm:t>
        <a:bodyPr/>
        <a:lstStyle/>
        <a:p>
          <a:endParaRPr lang="en-US"/>
        </a:p>
      </dgm:t>
    </dgm:pt>
    <dgm:pt modelId="{37ABF76A-B069-444A-BA4E-B84C97F5FC3A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## Backup </a:t>
          </a:r>
          <a:r>
            <a:rPr lang="en-US" sz="1400" dirty="0" err="1"/>
            <a:t>xCAT</a:t>
          </a:r>
          <a:r>
            <a:rPr lang="en-US" sz="1400" dirty="0"/>
            <a:t> Database on ms1 - Daily ##</a:t>
          </a:r>
        </a:p>
      </dgm:t>
    </dgm:pt>
    <dgm:pt modelId="{D5305DD8-4A39-4455-90CD-E7F45EC1FADE}" type="parTrans" cxnId="{2F7540E8-8FDA-43C3-810C-0F2CDE351286}">
      <dgm:prSet/>
      <dgm:spPr/>
      <dgm:t>
        <a:bodyPr/>
        <a:lstStyle/>
        <a:p>
          <a:endParaRPr lang="en-US"/>
        </a:p>
      </dgm:t>
    </dgm:pt>
    <dgm:pt modelId="{6407E4B0-8BBF-4949-B474-A48BA0C116D5}" type="sibTrans" cxnId="{2F7540E8-8FDA-43C3-810C-0F2CDE351286}">
      <dgm:prSet/>
      <dgm:spPr/>
      <dgm:t>
        <a:bodyPr/>
        <a:lstStyle/>
        <a:p>
          <a:endParaRPr lang="en-US"/>
        </a:p>
      </dgm:t>
    </dgm:pt>
    <dgm:pt modelId="{8F4FAF18-7EB3-49A1-B036-BE4D5B873BB8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0 4 * * * /home/share/scripts/xCAT/xCATdump.sh</a:t>
          </a:r>
        </a:p>
      </dgm:t>
    </dgm:pt>
    <dgm:pt modelId="{ADCA21A6-FD09-481C-B9FA-322D30658AA1}" type="parTrans" cxnId="{5EE362F5-E98C-439D-965C-C0E255CE9DCD}">
      <dgm:prSet/>
      <dgm:spPr/>
      <dgm:t>
        <a:bodyPr/>
        <a:lstStyle/>
        <a:p>
          <a:endParaRPr lang="en-US"/>
        </a:p>
      </dgm:t>
    </dgm:pt>
    <dgm:pt modelId="{EFD17F34-2C0D-4D4E-8EDC-DB6D295E2401}" type="sibTrans" cxnId="{5EE362F5-E98C-439D-965C-C0E255CE9DCD}">
      <dgm:prSet/>
      <dgm:spPr/>
      <dgm:t>
        <a:bodyPr/>
        <a:lstStyle/>
        <a:p>
          <a:endParaRPr lang="en-US"/>
        </a:p>
      </dgm:t>
    </dgm:pt>
    <dgm:pt modelId="{9FF5F7A6-0F4C-4152-8C7E-A21DC21B33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To dump the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database </a:t>
          </a:r>
          <a:r>
            <a:rPr lang="en-US" sz="1400" u="sng" dirty="0">
              <a:solidFill>
                <a:schemeClr val="accent1">
                  <a:lumMod val="75000"/>
                </a:schemeClr>
              </a:solidFill>
            </a:rPr>
            <a:t>into backup directory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, including the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auditlog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and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eventlog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enter:</a:t>
          </a:r>
        </a:p>
      </dgm:t>
    </dgm:pt>
    <dgm:pt modelId="{CC018C8C-0347-4DD3-A336-71387F217D58}" type="parTrans" cxnId="{4225CE60-B52F-491F-A854-AA2C8A816FD4}">
      <dgm:prSet/>
      <dgm:spPr/>
      <dgm:t>
        <a:bodyPr/>
        <a:lstStyle/>
        <a:p>
          <a:endParaRPr lang="en-US"/>
        </a:p>
      </dgm:t>
    </dgm:pt>
    <dgm:pt modelId="{D404ADF5-78F0-4A29-8807-B48ABBC5EAF8}" type="sibTrans" cxnId="{4225CE60-B52F-491F-A854-AA2C8A816FD4}">
      <dgm:prSet/>
      <dgm:spPr/>
      <dgm:t>
        <a:bodyPr/>
        <a:lstStyle/>
        <a:p>
          <a:endParaRPr lang="en-US"/>
        </a:p>
      </dgm:t>
    </dgm:pt>
    <dgm:pt modelId="{81841B25-25CB-4A65-99CC-3E382BFFFABF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 err="1"/>
            <a:t>dumpxCATdb</a:t>
          </a:r>
          <a:r>
            <a:rPr lang="en-US" sz="1400" dirty="0"/>
            <a:t> -a -p /home/share/scripts/</a:t>
          </a:r>
          <a:r>
            <a:rPr lang="en-US" sz="1400" dirty="0" err="1"/>
            <a:t>xCAT</a:t>
          </a:r>
          <a:r>
            <a:rPr lang="en-US" sz="1400" dirty="0"/>
            <a:t>/ms1-dump-yy-dd-mm</a:t>
          </a:r>
        </a:p>
      </dgm:t>
    </dgm:pt>
    <dgm:pt modelId="{C42C3FBC-5957-4D39-BAD8-5A74DAF8A114}" type="parTrans" cxnId="{8D54D4B7-8C2E-4BA6-ADD4-11EF7140E24D}">
      <dgm:prSet/>
      <dgm:spPr/>
      <dgm:t>
        <a:bodyPr/>
        <a:lstStyle/>
        <a:p>
          <a:endParaRPr lang="en-US"/>
        </a:p>
      </dgm:t>
    </dgm:pt>
    <dgm:pt modelId="{E50339D5-602E-4B7C-ACFE-D4C149355396}" type="sibTrans" cxnId="{8D54D4B7-8C2E-4BA6-ADD4-11EF7140E24D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4225CE60-B52F-491F-A854-AA2C8A816FD4}" srcId="{495F97D1-97CF-4C7F-887E-4A413CDEED70}" destId="{9FF5F7A6-0F4C-4152-8C7E-A21DC21B339C}" srcOrd="4" destOrd="0" parTransId="{CC018C8C-0347-4DD3-A336-71387F217D58}" sibTransId="{D404ADF5-78F0-4A29-8807-B48ABBC5EAF8}"/>
    <dgm:cxn modelId="{C24DDB43-4494-4BC5-AD06-A8F2350AB7F3}" type="presOf" srcId="{81841B25-25CB-4A65-99CC-3E382BFFFABF}" destId="{5450DF9E-E76B-4CBA-AF5E-D3B0BF5AE06E}" srcOrd="0" destOrd="5" presId="urn:microsoft.com/office/officeart/2005/8/layout/vList5"/>
    <dgm:cxn modelId="{21F57346-4652-4563-992F-DD1487411E0C}" type="presOf" srcId="{37ABF76A-B069-444A-BA4E-B84C97F5FC3A}" destId="{5450DF9E-E76B-4CBA-AF5E-D3B0BF5AE06E}" srcOrd="0" destOrd="2" presId="urn:microsoft.com/office/officeart/2005/8/layout/vList5"/>
    <dgm:cxn modelId="{6D782175-4D92-4610-803E-EAFADA1175FD}" type="presOf" srcId="{4BCE76B7-14DD-4808-AB52-DB9294493CBF}" destId="{5450DF9E-E76B-4CBA-AF5E-D3B0BF5AE06E}" srcOrd="0" destOrd="1" presId="urn:microsoft.com/office/officeart/2005/8/layout/vList5"/>
    <dgm:cxn modelId="{A4BB877D-9155-41F0-A2F0-285B2747DD5E}" type="presOf" srcId="{8F4FAF18-7EB3-49A1-B036-BE4D5B873BB8}" destId="{5450DF9E-E76B-4CBA-AF5E-D3B0BF5AE06E}" srcOrd="0" destOrd="3" presId="urn:microsoft.com/office/officeart/2005/8/layout/vList5"/>
    <dgm:cxn modelId="{92D2857E-2642-4435-B09D-6B13D37B6536}" type="presOf" srcId="{9FF5F7A6-0F4C-4152-8C7E-A21DC21B339C}" destId="{5450DF9E-E76B-4CBA-AF5E-D3B0BF5AE06E}" srcOrd="0" destOrd="4" presId="urn:microsoft.com/office/officeart/2005/8/layout/vList5"/>
    <dgm:cxn modelId="{8D54D4B7-8C2E-4BA6-ADD4-11EF7140E24D}" srcId="{495F97D1-97CF-4C7F-887E-4A413CDEED70}" destId="{81841B25-25CB-4A65-99CC-3E382BFFFABF}" srcOrd="5" destOrd="0" parTransId="{C42C3FBC-5957-4D39-BAD8-5A74DAF8A114}" sibTransId="{E50339D5-602E-4B7C-ACFE-D4C149355396}"/>
    <dgm:cxn modelId="{EA661CBD-9650-479A-A289-4E2106493A7D}" srcId="{495F97D1-97CF-4C7F-887E-4A413CDEED70}" destId="{4BCE76B7-14DD-4808-AB52-DB9294493CBF}" srcOrd="1" destOrd="0" parTransId="{BBF521FB-BE96-4D16-A239-CC38D097CF3D}" sibTransId="{18AF8BC7-5BC2-4A2D-A37C-47774BFDE976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2F7540E8-8FDA-43C3-810C-0F2CDE351286}" srcId="{495F97D1-97CF-4C7F-887E-4A413CDEED70}" destId="{37ABF76A-B069-444A-BA4E-B84C97F5FC3A}" srcOrd="2" destOrd="0" parTransId="{D5305DD8-4A39-4455-90CD-E7F45EC1FADE}" sibTransId="{6407E4B0-8BBF-4949-B474-A48BA0C116D5}"/>
    <dgm:cxn modelId="{5EE362F5-E98C-439D-965C-C0E255CE9DCD}" srcId="{495F97D1-97CF-4C7F-887E-4A413CDEED70}" destId="{8F4FAF18-7EB3-49A1-B036-BE4D5B873BB8}" srcOrd="3" destOrd="0" parTransId="{ADCA21A6-FD09-481C-B9FA-322D30658AA1}" sibTransId="{EFD17F34-2C0D-4D4E-8EDC-DB6D295E2401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186583" y="-2119412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Active Master Node: </a:t>
          </a:r>
          <a:r>
            <a:rPr lang="en-US" sz="1500" kern="1200" dirty="0" err="1"/>
            <a:t>HPCxCaT</a:t>
          </a:r>
          <a:endParaRPr lang="en-US" sz="1500" kern="1200" dirty="0"/>
        </a:p>
      </dsp:txBody>
      <dsp:txXfrm rot="-5400000">
        <a:off x="2962656" y="144500"/>
        <a:ext cx="5226959" cy="739119"/>
      </dsp:txXfrm>
    </dsp:sp>
    <dsp:sp modelId="{61F7FC16-E161-4BD7-8547-9AD7A3615229}">
      <dsp:nvSpPr>
        <dsp:cNvPr id="0" name=""/>
        <dsp:cNvSpPr/>
      </dsp:nvSpPr>
      <dsp:spPr>
        <a:xfrm>
          <a:off x="41924" y="2128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Master Nodes:</a:t>
          </a:r>
        </a:p>
      </dsp:txBody>
      <dsp:txXfrm>
        <a:off x="91905" y="52109"/>
        <a:ext cx="2862694" cy="923899"/>
      </dsp:txXfrm>
    </dsp:sp>
    <dsp:sp modelId="{7CF1B421-46CD-4E66-BEDF-16A773CDC532}">
      <dsp:nvSpPr>
        <dsp:cNvPr id="0" name=""/>
        <dsp:cNvSpPr/>
      </dsp:nvSpPr>
      <dsp:spPr>
        <a:xfrm rot="5400000">
          <a:off x="5186583" y="-1044357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Slurm</a:t>
          </a:r>
          <a:r>
            <a:rPr lang="en-US" sz="1500" kern="1200" dirty="0"/>
            <a:t> Workload Manager (Open-source Job Scheduling System)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xCAT</a:t>
          </a:r>
          <a:r>
            <a:rPr lang="en-US" sz="1500" kern="1200" dirty="0"/>
            <a:t>  - </a:t>
          </a:r>
          <a:r>
            <a:rPr lang="en-US" sz="1500" b="1" i="0" kern="1200" dirty="0">
              <a:solidFill>
                <a:schemeClr val="tx1"/>
              </a:solidFill>
              <a:effectLst/>
              <a:latin typeface="+mn-lt"/>
            </a:rPr>
            <a:t>Extreme Cloud Administration Toolkit, </a:t>
          </a:r>
          <a:r>
            <a:rPr lang="en-US" sz="1500" b="0" i="0" kern="1200" dirty="0">
              <a:solidFill>
                <a:schemeClr val="tx1"/>
              </a:solidFill>
              <a:effectLst/>
              <a:latin typeface="+mn-lt"/>
            </a:rPr>
            <a:t>open-source distributed computing management software developed by IBM</a:t>
          </a:r>
          <a:endParaRPr lang="en-US" sz="1500" kern="1200" dirty="0"/>
        </a:p>
      </dsp:txBody>
      <dsp:txXfrm rot="-5400000">
        <a:off x="2962656" y="1219555"/>
        <a:ext cx="5226959" cy="739119"/>
      </dsp:txXfrm>
    </dsp:sp>
    <dsp:sp modelId="{FDC72016-C221-4258-BD66-E6AE8748780F}">
      <dsp:nvSpPr>
        <dsp:cNvPr id="0" name=""/>
        <dsp:cNvSpPr/>
      </dsp:nvSpPr>
      <dsp:spPr>
        <a:xfrm>
          <a:off x="41924" y="1077183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Used for: </a:t>
          </a:r>
        </a:p>
      </dsp:txBody>
      <dsp:txXfrm>
        <a:off x="91905" y="1127164"/>
        <a:ext cx="2862694" cy="923899"/>
      </dsp:txXfrm>
    </dsp:sp>
    <dsp:sp modelId="{137025DC-D6D2-40E5-91EC-24995067F051}">
      <dsp:nvSpPr>
        <dsp:cNvPr id="0" name=""/>
        <dsp:cNvSpPr/>
      </dsp:nvSpPr>
      <dsp:spPr>
        <a:xfrm rot="5400000">
          <a:off x="5186583" y="30697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2 nodes x Dell R630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56CPU / 256 GB Memory</a:t>
          </a:r>
        </a:p>
      </dsp:txBody>
      <dsp:txXfrm rot="-5400000">
        <a:off x="2962656" y="2294610"/>
        <a:ext cx="5226959" cy="739119"/>
      </dsp:txXfrm>
    </dsp:sp>
    <dsp:sp modelId="{FC80CDE6-027D-47C6-BBF2-ED852AD2B59D}">
      <dsp:nvSpPr>
        <dsp:cNvPr id="0" name=""/>
        <dsp:cNvSpPr/>
      </dsp:nvSpPr>
      <dsp:spPr>
        <a:xfrm>
          <a:off x="41924" y="2152238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Hardware:</a:t>
          </a:r>
        </a:p>
      </dsp:txBody>
      <dsp:txXfrm>
        <a:off x="91905" y="2202219"/>
        <a:ext cx="2862694" cy="923899"/>
      </dsp:txXfrm>
    </dsp:sp>
    <dsp:sp modelId="{D3E72ADE-0511-49BC-BD88-AE34AF7ED5A2}">
      <dsp:nvSpPr>
        <dsp:cNvPr id="0" name=""/>
        <dsp:cNvSpPr/>
      </dsp:nvSpPr>
      <dsp:spPr>
        <a:xfrm rot="5400000">
          <a:off x="5100357" y="1105752"/>
          <a:ext cx="991540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Currently running CentOS7.8 (64bit) across the cluster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One Local Partition: / (420 GB)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Additional mounts come from the </a:t>
          </a:r>
          <a:r>
            <a:rPr lang="en-US" sz="1500" kern="1200" dirty="0" err="1"/>
            <a:t>Lustre</a:t>
          </a:r>
          <a:r>
            <a:rPr lang="en-US" sz="1500" kern="1200" dirty="0"/>
            <a:t> FS: /home &amp; /scratch</a:t>
          </a:r>
        </a:p>
      </dsp:txBody>
      <dsp:txXfrm rot="-5400000">
        <a:off x="2962656" y="3291857"/>
        <a:ext cx="5218541" cy="894734"/>
      </dsp:txXfrm>
    </dsp:sp>
    <dsp:sp modelId="{E7EB1981-91E8-4641-AEFE-E2CFEDBC290C}">
      <dsp:nvSpPr>
        <dsp:cNvPr id="0" name=""/>
        <dsp:cNvSpPr/>
      </dsp:nvSpPr>
      <dsp:spPr>
        <a:xfrm>
          <a:off x="41924" y="3227293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Current OS installed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same configuration on both nodes</a:t>
          </a:r>
        </a:p>
      </dsp:txBody>
      <dsp:txXfrm>
        <a:off x="91905" y="3277274"/>
        <a:ext cx="2862694" cy="923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017790" y="-537804"/>
          <a:ext cx="315667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Remotely manage systems via ILO/DRAC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OS provisioning: login/compute nodes (CentOS 7 x64bit) in parallel (diskful, diskless) via PXE boot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Control and maintain servers’ RPMs, configuration files in parallel via postscripts, initiate remote commands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Uses additional services for provisioning OS: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-TFTP (load OS via PXE boot)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-DHCP (IP assignment with MAC)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-DNS (name resolution in the roary.net domain)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-Maintain /</a:t>
          </a:r>
          <a:r>
            <a:rPr lang="en-US" sz="1400" kern="1200" dirty="0" err="1">
              <a:solidFill>
                <a:schemeClr val="tx1"/>
              </a:solidFill>
            </a:rPr>
            <a:t>etc</a:t>
          </a:r>
          <a:r>
            <a:rPr lang="en-US" sz="1400" kern="1200" dirty="0">
              <a:solidFill>
                <a:schemeClr val="tx1"/>
              </a:solidFill>
            </a:rPr>
            <a:t>/host file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   -Local Repository in the cluster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</dsp:txBody>
      <dsp:txXfrm rot="-5400000">
        <a:off x="2962656" y="671426"/>
        <a:ext cx="5112848" cy="2848483"/>
      </dsp:txXfrm>
    </dsp:sp>
    <dsp:sp modelId="{61F7FC16-E161-4BD7-8547-9AD7A3615229}">
      <dsp:nvSpPr>
        <dsp:cNvPr id="0" name=""/>
        <dsp:cNvSpPr/>
      </dsp:nvSpPr>
      <dsp:spPr>
        <a:xfrm>
          <a:off x="41924" y="397641"/>
          <a:ext cx="2962656" cy="335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none" kern="1200" dirty="0">
              <a:solidFill>
                <a:schemeClr val="bg1"/>
              </a:solidFill>
            </a:rPr>
            <a:t>Role of </a:t>
          </a:r>
          <a:r>
            <a:rPr lang="en-US" sz="1700" u="none" kern="1200" dirty="0" err="1">
              <a:solidFill>
                <a:schemeClr val="bg1"/>
              </a:solidFill>
            </a:rPr>
            <a:t>xCAT</a:t>
          </a:r>
          <a:r>
            <a:rPr lang="en-US" sz="1700" u="none" kern="1200" dirty="0">
              <a:solidFill>
                <a:schemeClr val="bg1"/>
              </a:solidFill>
            </a:rPr>
            <a:t> -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Remotely Manage Systems:</a:t>
          </a:r>
        </a:p>
      </dsp:txBody>
      <dsp:txXfrm>
        <a:off x="186549" y="542266"/>
        <a:ext cx="2673406" cy="30633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542618" y="-2346516"/>
          <a:ext cx="964796" cy="570585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https://xcat-docs.readthedocs.io/en/stable/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https://xcat-docs.readthedocs.io/en/stable/guides/install-guides/yum/manual_install.html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https://github.com/xcat2/xcat-core/wiki/XCAT_2.13.3_Release_Notes</a:t>
          </a:r>
        </a:p>
      </dsp:txBody>
      <dsp:txXfrm rot="-5400000">
        <a:off x="3172089" y="71110"/>
        <a:ext cx="5658759" cy="870602"/>
      </dsp:txXfrm>
    </dsp:sp>
    <dsp:sp modelId="{61F7FC16-E161-4BD7-8547-9AD7A3615229}">
      <dsp:nvSpPr>
        <dsp:cNvPr id="0" name=""/>
        <dsp:cNvSpPr/>
      </dsp:nvSpPr>
      <dsp:spPr>
        <a:xfrm>
          <a:off x="0" y="886"/>
          <a:ext cx="3172088" cy="10110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Installation Guideline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:</a:t>
          </a:r>
        </a:p>
      </dsp:txBody>
      <dsp:txXfrm>
        <a:off x="49355" y="50241"/>
        <a:ext cx="3073378" cy="912338"/>
      </dsp:txXfrm>
    </dsp:sp>
    <dsp:sp modelId="{7CF1B421-46CD-4E66-BEDF-16A773CDC532}">
      <dsp:nvSpPr>
        <dsp:cNvPr id="0" name=""/>
        <dsp:cNvSpPr/>
      </dsp:nvSpPr>
      <dsp:spPr>
        <a:xfrm rot="5400000">
          <a:off x="4981498" y="-584440"/>
          <a:ext cx="2161946" cy="570585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-Make sure NTP is enabled across the cluster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</a:t>
          </a:r>
          <a:r>
            <a:rPr lang="en-US" sz="1400" kern="1200" dirty="0" err="1"/>
            <a:t>Passwordless</a:t>
          </a:r>
          <a:r>
            <a:rPr lang="en-US" sz="1400" kern="1200" dirty="0"/>
            <a:t> SSH for root is enabled across the cluster from ms1/ms2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-Configure a VIP network interface dedicated for the active </a:t>
          </a:r>
          <a:r>
            <a:rPr lang="en-US" sz="1400" kern="1200" dirty="0" err="1"/>
            <a:t>xcatmaster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-VIP for </a:t>
          </a:r>
          <a:r>
            <a:rPr lang="en-US" sz="1400" kern="1200" dirty="0" err="1"/>
            <a:t>xcatmn</a:t>
          </a:r>
          <a:r>
            <a:rPr lang="en-US" sz="1400" kern="1200" dirty="0"/>
            <a:t>: 192.168.248.60 (em3:0) only up on active master node (ms1)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</a:t>
          </a:r>
          <a:r>
            <a:rPr lang="en-US" sz="1400" kern="1200" dirty="0" err="1"/>
            <a:t>xcatmn</a:t>
          </a:r>
          <a:r>
            <a:rPr lang="en-US" sz="1400" kern="1200" dirty="0"/>
            <a:t> used as </a:t>
          </a:r>
          <a:r>
            <a:rPr lang="en-US" sz="1400" kern="1200" dirty="0" err="1"/>
            <a:t>dhcp</a:t>
          </a:r>
          <a:r>
            <a:rPr lang="en-US" sz="1400" kern="1200" dirty="0"/>
            <a:t> server, </a:t>
          </a:r>
          <a:r>
            <a:rPr lang="en-US" sz="1400" kern="1200" dirty="0" err="1"/>
            <a:t>dns</a:t>
          </a:r>
          <a:r>
            <a:rPr lang="en-US" sz="1400" kern="1200" dirty="0"/>
            <a:t> server, </a:t>
          </a:r>
          <a:r>
            <a:rPr lang="en-US" sz="1400" kern="1200" dirty="0" err="1"/>
            <a:t>tfpserver</a:t>
          </a:r>
          <a:r>
            <a:rPr lang="en-US" sz="1400" kern="1200" dirty="0"/>
            <a:t> in </a:t>
          </a:r>
          <a:r>
            <a:rPr lang="en-US" sz="1400" kern="1200" dirty="0" err="1"/>
            <a:t>mgmt</a:t>
          </a:r>
          <a:r>
            <a:rPr lang="en-US" sz="1400" kern="1200" dirty="0"/>
            <a:t> network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-roary.net domain used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-Host IP for ms1: 192.168.248.61 (em3) | ms2: 192.168.248.62 (em3)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-ms1/ms2 configured as </a:t>
          </a:r>
          <a:r>
            <a:rPr lang="en-US" sz="1400" kern="1200" dirty="0" err="1"/>
            <a:t>ntp</a:t>
          </a:r>
          <a:r>
            <a:rPr lang="en-US" sz="1400" kern="1200" dirty="0"/>
            <a:t>, nameservers on </a:t>
          </a:r>
          <a:r>
            <a:rPr lang="en-US" sz="1400" kern="1200" dirty="0" err="1"/>
            <a:t>xcat</a:t>
          </a:r>
          <a:endParaRPr lang="en-US" sz="1400" kern="1200" dirty="0"/>
        </a:p>
      </dsp:txBody>
      <dsp:txXfrm rot="-5400000">
        <a:off x="3209543" y="1293053"/>
        <a:ext cx="5600318" cy="1950870"/>
      </dsp:txXfrm>
    </dsp:sp>
    <dsp:sp modelId="{FDC72016-C221-4258-BD66-E6AE8748780F}">
      <dsp:nvSpPr>
        <dsp:cNvPr id="0" name=""/>
        <dsp:cNvSpPr/>
      </dsp:nvSpPr>
      <dsp:spPr>
        <a:xfrm>
          <a:off x="45418" y="1135695"/>
          <a:ext cx="3209544" cy="22655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Pre-requisites:</a:t>
          </a:r>
          <a:r>
            <a:rPr lang="en-US" sz="3700" kern="1200" dirty="0"/>
            <a:t> </a:t>
          </a:r>
        </a:p>
      </dsp:txBody>
      <dsp:txXfrm>
        <a:off x="156015" y="1246292"/>
        <a:ext cx="2988350" cy="2044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105263" y="-1918222"/>
          <a:ext cx="1177182" cy="507149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Tar downloaded under /home/software/</a:t>
          </a:r>
          <a:r>
            <a:rPr lang="en-US" sz="1400" kern="1200" dirty="0" err="1"/>
            <a:t>xcat</a:t>
          </a:r>
          <a:r>
            <a:rPr lang="en-US" sz="1400" kern="1200" dirty="0"/>
            <a:t>/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Installation launched from </a:t>
          </a:r>
          <a:r>
            <a:rPr lang="en-US" sz="1400" kern="1200" dirty="0" err="1"/>
            <a:t>Xcat</a:t>
          </a:r>
          <a:r>
            <a:rPr lang="en-US" sz="1400" kern="1200" dirty="0"/>
            <a:t>-core / </a:t>
          </a:r>
          <a:r>
            <a:rPr lang="en-US" sz="1400" kern="1200" dirty="0" err="1"/>
            <a:t>xcat</a:t>
          </a:r>
          <a:r>
            <a:rPr lang="en-US" sz="1400" kern="1200" dirty="0"/>
            <a:t>-dep repositories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Installation prefix path: /home/share/</a:t>
          </a:r>
          <a:r>
            <a:rPr lang="en-US" sz="1400" kern="1200" dirty="0" err="1"/>
            <a:t>xCAT</a:t>
          </a:r>
          <a:r>
            <a:rPr lang="en-US" sz="1400" kern="1200" dirty="0"/>
            <a:t>/2.13.3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On active master node mount these </a:t>
          </a:r>
          <a:r>
            <a:rPr lang="en-US" sz="1400" kern="1200" dirty="0" err="1"/>
            <a:t>xcat</a:t>
          </a:r>
          <a:r>
            <a:rPr lang="en-US" sz="1400" kern="1200" dirty="0"/>
            <a:t> partitions from </a:t>
          </a:r>
          <a:r>
            <a:rPr lang="en-US" sz="1400" kern="1200" dirty="0" err="1"/>
            <a:t>lustre</a:t>
          </a:r>
          <a:endParaRPr lang="en-US" sz="1400" kern="1200" dirty="0"/>
        </a:p>
      </dsp:txBody>
      <dsp:txXfrm rot="-5400000">
        <a:off x="3158109" y="86397"/>
        <a:ext cx="5014026" cy="1062252"/>
      </dsp:txXfrm>
    </dsp:sp>
    <dsp:sp modelId="{61F7FC16-E161-4BD7-8547-9AD7A3615229}">
      <dsp:nvSpPr>
        <dsp:cNvPr id="0" name=""/>
        <dsp:cNvSpPr/>
      </dsp:nvSpPr>
      <dsp:spPr>
        <a:xfrm>
          <a:off x="0" y="715"/>
          <a:ext cx="3157839" cy="12336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xCAT</a:t>
          </a:r>
          <a:r>
            <a:rPr lang="en-US" sz="1700" kern="1200" dirty="0"/>
            <a:t> Installed under </a:t>
          </a:r>
          <a:r>
            <a:rPr lang="en-US" sz="1700" kern="1200" dirty="0" err="1"/>
            <a:t>Lustre</a:t>
          </a:r>
          <a:r>
            <a:rPr lang="en-US" sz="1700" kern="1200" dirty="0"/>
            <a:t> FS:</a:t>
          </a:r>
          <a:endParaRPr lang="en-US" sz="1700" kern="1200" dirty="0">
            <a:solidFill>
              <a:schemeClr val="bg1"/>
            </a:solidFill>
          </a:endParaRPr>
        </a:p>
      </dsp:txBody>
      <dsp:txXfrm>
        <a:off x="60220" y="60935"/>
        <a:ext cx="3037399" cy="1113175"/>
      </dsp:txXfrm>
    </dsp:sp>
    <dsp:sp modelId="{7CF1B421-46CD-4E66-BEDF-16A773CDC532}">
      <dsp:nvSpPr>
        <dsp:cNvPr id="0" name=""/>
        <dsp:cNvSpPr/>
      </dsp:nvSpPr>
      <dsp:spPr>
        <a:xfrm rot="5400000">
          <a:off x="3060186" y="-1674850"/>
          <a:ext cx="2057791" cy="81781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kern="1200" dirty="0"/>
        </a:p>
      </dsp:txBody>
      <dsp:txXfrm rot="-5400000">
        <a:off x="0" y="1485789"/>
        <a:ext cx="8077712" cy="1856885"/>
      </dsp:txXfrm>
    </dsp:sp>
    <dsp:sp modelId="{FDC72016-C221-4258-BD66-E6AE8748780F}">
      <dsp:nvSpPr>
        <dsp:cNvPr id="0" name=""/>
        <dsp:cNvSpPr/>
      </dsp:nvSpPr>
      <dsp:spPr>
        <a:xfrm>
          <a:off x="8114070" y="2410426"/>
          <a:ext cx="45719" cy="559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 dirty="0"/>
        </a:p>
      </dsp:txBody>
      <dsp:txXfrm>
        <a:off x="8116302" y="2412658"/>
        <a:ext cx="41255" cy="51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458220" y="-1397706"/>
          <a:ext cx="227581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 is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xcatd</a:t>
          </a:r>
          <a:endParaRPr lang="en-US" sz="1500" kern="1200" dirty="0">
            <a:solidFill>
              <a:schemeClr val="accent1">
                <a:lumMod val="75000"/>
              </a:schemeClr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Manually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on master node (ms1/ms2)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This will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daemons,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dhcp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, unmount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, stop/start VIP NIC interface em3:0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script to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daemons located under /bin/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-stop-</a:t>
          </a:r>
          <a:r>
            <a:rPr lang="en-US" sz="1400" kern="1200" dirty="0" err="1"/>
            <a:t>xcatmn</a:t>
          </a:r>
          <a:r>
            <a:rPr lang="en-US" sz="1400" kern="1200" dirty="0"/>
            <a:t> &gt; /home/share/</a:t>
          </a:r>
          <a:r>
            <a:rPr lang="en-US" sz="1400" kern="1200" dirty="0" err="1"/>
            <a:t>xCAT</a:t>
          </a:r>
          <a:r>
            <a:rPr lang="en-US" sz="1400" kern="1200" dirty="0"/>
            <a:t>/2.13.3/script/stop-</a:t>
          </a:r>
          <a:r>
            <a:rPr lang="en-US" sz="1400" kern="1200" dirty="0" err="1"/>
            <a:t>xcatmn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-start-</a:t>
          </a:r>
          <a:r>
            <a:rPr lang="en-US" sz="1400" kern="1200" dirty="0" err="1"/>
            <a:t>xcatmn</a:t>
          </a:r>
          <a:r>
            <a:rPr lang="en-US" sz="1400" kern="1200" dirty="0"/>
            <a:t> &gt; /home/share/</a:t>
          </a:r>
          <a:r>
            <a:rPr lang="en-US" sz="1400" kern="1200" dirty="0" err="1"/>
            <a:t>xCAT</a:t>
          </a:r>
          <a:r>
            <a:rPr lang="en-US" sz="1400" kern="1200" dirty="0"/>
            <a:t>/2.13.3/script/start-</a:t>
          </a:r>
          <a:r>
            <a:rPr lang="en-US" sz="1400" kern="1200" dirty="0" err="1"/>
            <a:t>xcatmn</a:t>
          </a:r>
          <a:endParaRPr lang="en-US" sz="1400" kern="1200" dirty="0"/>
        </a:p>
      </dsp:txBody>
      <dsp:txXfrm rot="-5400000">
        <a:off x="2962656" y="208954"/>
        <a:ext cx="5155848" cy="2053623"/>
      </dsp:txXfrm>
    </dsp:sp>
    <dsp:sp modelId="{61F7FC16-E161-4BD7-8547-9AD7A3615229}">
      <dsp:nvSpPr>
        <dsp:cNvPr id="0" name=""/>
        <dsp:cNvSpPr/>
      </dsp:nvSpPr>
      <dsp:spPr>
        <a:xfrm>
          <a:off x="41924" y="43675"/>
          <a:ext cx="2962656" cy="2384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 stop/start scripts:</a:t>
          </a:r>
        </a:p>
      </dsp:txBody>
      <dsp:txXfrm>
        <a:off x="158310" y="160061"/>
        <a:ext cx="2729884" cy="21514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922718" y="-1902150"/>
          <a:ext cx="134681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Location: /home/share/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/2.13.3/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etc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configurations are stored in multiple tables on the SQLite DB – located under /</a:t>
          </a:r>
          <a:r>
            <a:rPr lang="en-US" sz="1400" kern="1200" dirty="0" err="1"/>
            <a:t>etc</a:t>
          </a:r>
          <a:r>
            <a:rPr lang="en-US" sz="1400" kern="1200" dirty="0"/>
            <a:t>/</a:t>
          </a:r>
          <a:r>
            <a:rPr lang="en-US" sz="1400" kern="1200" dirty="0" err="1"/>
            <a:t>xcat</a:t>
          </a:r>
          <a:r>
            <a:rPr lang="en-US" sz="1400" kern="1200" dirty="0"/>
            <a:t> (mount from </a:t>
          </a:r>
          <a:r>
            <a:rPr lang="en-US" sz="1400" kern="1200" dirty="0" err="1"/>
            <a:t>lustre</a:t>
          </a:r>
          <a:r>
            <a:rPr lang="en-US" sz="1400" kern="1200" dirty="0"/>
            <a:t>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400" kern="1200" dirty="0"/>
        </a:p>
      </dsp:txBody>
      <dsp:txXfrm rot="-5400000">
        <a:off x="2962656" y="123658"/>
        <a:ext cx="5201198" cy="1215327"/>
      </dsp:txXfrm>
    </dsp:sp>
    <dsp:sp modelId="{61F7FC16-E161-4BD7-8547-9AD7A3615229}">
      <dsp:nvSpPr>
        <dsp:cNvPr id="0" name=""/>
        <dsp:cNvSpPr/>
      </dsp:nvSpPr>
      <dsp:spPr>
        <a:xfrm>
          <a:off x="41924" y="25847"/>
          <a:ext cx="2962656" cy="14109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Configuration Files:</a:t>
          </a:r>
        </a:p>
      </dsp:txBody>
      <dsp:txXfrm>
        <a:off x="110801" y="94724"/>
        <a:ext cx="2824902" cy="12731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66485" y="-1860631"/>
          <a:ext cx="1919927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Objects (has 20 Types): most important are node, group, </a:t>
          </a:r>
          <a:r>
            <a:rPr lang="en-US" sz="1400" kern="1200" dirty="0" err="1"/>
            <a:t>osimage</a:t>
          </a:r>
          <a:r>
            <a:rPr lang="en-US" sz="1400" kern="1200" dirty="0"/>
            <a:t> objects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Global Configuration: some configuration must be set before starting using </a:t>
          </a:r>
          <a:r>
            <a:rPr lang="en-US" sz="1400" kern="1200" dirty="0" err="1"/>
            <a:t>xCAT</a:t>
          </a:r>
          <a:r>
            <a:rPr lang="en-US" sz="1400" kern="1200" dirty="0"/>
            <a:t> on the site, policy, passwd and networks table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Database: All data for the </a:t>
          </a:r>
          <a:r>
            <a:rPr lang="en-US" sz="1400" kern="1200" dirty="0" err="1"/>
            <a:t>xCAT</a:t>
          </a:r>
          <a:r>
            <a:rPr lang="en-US" sz="1400" kern="1200" dirty="0"/>
            <a:t> Objects and global configuration are stored in </a:t>
          </a:r>
          <a:r>
            <a:rPr lang="en-US" sz="1400" kern="1200" dirty="0" err="1"/>
            <a:t>xCAT</a:t>
          </a:r>
          <a:r>
            <a:rPr lang="en-US" sz="1400" kern="1200" dirty="0"/>
            <a:t> Database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Network: requires understanding of the network in order to be able to centrally managed the servers remotely</a:t>
          </a:r>
        </a:p>
      </dsp:txBody>
      <dsp:txXfrm rot="-5400000">
        <a:off x="2423299" y="176278"/>
        <a:ext cx="5712578" cy="1732481"/>
      </dsp:txXfrm>
    </dsp:sp>
    <dsp:sp modelId="{61F7FC16-E161-4BD7-8547-9AD7A3615229}">
      <dsp:nvSpPr>
        <dsp:cNvPr id="0" name=""/>
        <dsp:cNvSpPr/>
      </dsp:nvSpPr>
      <dsp:spPr>
        <a:xfrm>
          <a:off x="35106" y="36845"/>
          <a:ext cx="2421624" cy="2011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Basic Concepts:</a:t>
          </a:r>
        </a:p>
      </dsp:txBody>
      <dsp:txXfrm>
        <a:off x="133292" y="135031"/>
        <a:ext cx="2225252" cy="18149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582874" y="-2095629"/>
          <a:ext cx="1487150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tabdump</a:t>
          </a:r>
          <a:r>
            <a:rPr lang="en-US" sz="1400" kern="1200" dirty="0"/>
            <a:t>: Display headers and all rows of table in CSV format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tabedit</a:t>
          </a:r>
          <a:r>
            <a:rPr lang="en-US" sz="1400" kern="1200" dirty="0"/>
            <a:t>: Open table in edit mode in flat CSV format and save changes with :</a:t>
          </a:r>
          <a:r>
            <a:rPr lang="en-US" sz="1400" kern="1200" dirty="0" err="1"/>
            <a:t>wq</a:t>
          </a:r>
          <a:r>
            <a:rPr lang="en-US" sz="1400" kern="1200" dirty="0"/>
            <a:t> (like vi)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 dirty="0" err="1"/>
            <a:t>chtab</a:t>
          </a:r>
          <a:r>
            <a:rPr lang="en-US" sz="1400" b="0" kern="1200" dirty="0"/>
            <a:t>: Add/delete/update rows in the database tables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tabgrep</a:t>
          </a:r>
          <a:r>
            <a:rPr lang="en-US" sz="1400" kern="1200" dirty="0"/>
            <a:t>: List table names in which an entry for the given node appears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Sample: </a:t>
          </a:r>
          <a:r>
            <a:rPr lang="en-US" sz="1400" kern="1200" dirty="0" err="1"/>
            <a:t>tabdump</a:t>
          </a:r>
          <a:r>
            <a:rPr lang="en-US" sz="1400" kern="1200" dirty="0"/>
            <a:t> site | </a:t>
          </a:r>
          <a:r>
            <a:rPr lang="en-US" sz="1400" kern="1200" dirty="0" err="1"/>
            <a:t>tabedit</a:t>
          </a:r>
          <a:r>
            <a:rPr lang="en-US" sz="1400" kern="1200" dirty="0"/>
            <a:t> site | </a:t>
          </a:r>
          <a:r>
            <a:rPr lang="en-US" sz="1400" kern="1200" dirty="0" err="1"/>
            <a:t>tabgrep</a:t>
          </a:r>
          <a:r>
            <a:rPr lang="en-US" sz="1400" kern="1200" dirty="0"/>
            <a:t> n055 | </a:t>
          </a:r>
          <a:r>
            <a:rPr lang="en-US" sz="1400" kern="1200" dirty="0" err="1"/>
            <a:t>chtab</a:t>
          </a:r>
          <a:r>
            <a:rPr lang="en-US" sz="1400" kern="1200" dirty="0"/>
            <a:t> node=node1 </a:t>
          </a:r>
          <a:r>
            <a:rPr lang="en-US" sz="1400" kern="1200" dirty="0" err="1"/>
            <a:t>nodelist.groups</a:t>
          </a:r>
          <a:r>
            <a:rPr lang="en-US" sz="1400" kern="1200" dirty="0"/>
            <a:t>=all</a:t>
          </a:r>
        </a:p>
      </dsp:txBody>
      <dsp:txXfrm rot="-5400000">
        <a:off x="2423299" y="136543"/>
        <a:ext cx="5733704" cy="1341956"/>
      </dsp:txXfrm>
    </dsp:sp>
    <dsp:sp modelId="{61F7FC16-E161-4BD7-8547-9AD7A3615229}">
      <dsp:nvSpPr>
        <dsp:cNvPr id="0" name=""/>
        <dsp:cNvSpPr/>
      </dsp:nvSpPr>
      <dsp:spPr>
        <a:xfrm>
          <a:off x="35106" y="28540"/>
          <a:ext cx="2421624" cy="1557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Manipulate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DB Tables:</a:t>
          </a:r>
        </a:p>
      </dsp:txBody>
      <dsp:txXfrm>
        <a:off x="111159" y="104593"/>
        <a:ext cx="2269518" cy="14058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791179" y="-1823377"/>
          <a:ext cx="1615040" cy="52618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site: Global settings for entire cluster (</a:t>
          </a:r>
          <a:r>
            <a:rPr lang="en-US" sz="1400" kern="1200" dirty="0" err="1"/>
            <a:t>tabdump</a:t>
          </a:r>
          <a:r>
            <a:rPr lang="en-US" sz="1400" kern="1200" dirty="0"/>
            <a:t> site)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policy: Controls who has authority to run specific </a:t>
          </a:r>
          <a:r>
            <a:rPr lang="en-US" sz="1400" kern="1200" dirty="0" err="1"/>
            <a:t>xCAT</a:t>
          </a:r>
          <a:r>
            <a:rPr lang="en-US" sz="1400" kern="1200" dirty="0"/>
            <a:t> operations (ACL)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passwd: Contains default </a:t>
          </a:r>
          <a:r>
            <a:rPr lang="en-US" sz="1400" kern="1200" dirty="0" err="1"/>
            <a:t>userids</a:t>
          </a:r>
          <a:r>
            <a:rPr lang="en-US" sz="1400" kern="1200" dirty="0"/>
            <a:t> and passwords for </a:t>
          </a:r>
          <a:r>
            <a:rPr lang="en-US" sz="1400" kern="1200" dirty="0" err="1"/>
            <a:t>xCAT</a:t>
          </a:r>
          <a:r>
            <a:rPr lang="en-US" sz="1400" kern="1200" dirty="0"/>
            <a:t> to access cluster components used during config/install and for SP (</a:t>
          </a:r>
          <a:r>
            <a:rPr lang="en-US" sz="1400" kern="1200" dirty="0" err="1"/>
            <a:t>bmc</a:t>
          </a:r>
          <a:r>
            <a:rPr lang="en-US" sz="1400" kern="1200" dirty="0"/>
            <a:t>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networks: Contains the network definitions in the cluster</a:t>
          </a:r>
        </a:p>
      </dsp:txBody>
      <dsp:txXfrm rot="-5400000">
        <a:off x="2967799" y="78843"/>
        <a:ext cx="5182960" cy="1457360"/>
      </dsp:txXfrm>
    </dsp:sp>
    <dsp:sp modelId="{61F7FC16-E161-4BD7-8547-9AD7A3615229}">
      <dsp:nvSpPr>
        <dsp:cNvPr id="0" name=""/>
        <dsp:cNvSpPr/>
      </dsp:nvSpPr>
      <dsp:spPr>
        <a:xfrm>
          <a:off x="45902" y="0"/>
          <a:ext cx="2959762" cy="1557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Global Configuration:</a:t>
          </a:r>
        </a:p>
      </dsp:txBody>
      <dsp:txXfrm>
        <a:off x="121955" y="76053"/>
        <a:ext cx="2807656" cy="14058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26081" y="-1355787"/>
          <a:ext cx="2545236" cy="52618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has 20 types of objects - most important are: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Node Object: The </a:t>
          </a:r>
          <a:r>
            <a:rPr lang="en-US" sz="1400" b="0" kern="1200" dirty="0"/>
            <a:t>node</a:t>
          </a:r>
          <a:r>
            <a:rPr lang="en-US" sz="1400" kern="1200" dirty="0"/>
            <a:t> is the most important and used object in </a:t>
          </a:r>
          <a:r>
            <a:rPr lang="en-US" sz="1400" kern="1200" dirty="0" err="1"/>
            <a:t>xCAT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Group Object: Includes multiple </a:t>
          </a:r>
          <a:r>
            <a:rPr lang="en-US" sz="1400" b="0" kern="1200" dirty="0"/>
            <a:t>node object, help handle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multiple nodes via group. Node Inherit attributes from group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objects (</a:t>
          </a:r>
          <a:r>
            <a:rPr lang="en-US" sz="1400" b="0" kern="1200" dirty="0" err="1"/>
            <a:t>rpower</a:t>
          </a:r>
          <a:r>
            <a:rPr lang="en-US" sz="1400" b="0" kern="1200" dirty="0"/>
            <a:t> </a:t>
          </a:r>
          <a:r>
            <a:rPr lang="en-US" sz="1400" b="0" kern="1200" dirty="0" err="1"/>
            <a:t>groupname</a:t>
          </a:r>
          <a:r>
            <a:rPr lang="en-US" sz="1400" b="0" kern="1200" dirty="0"/>
            <a:t> stat vs </a:t>
          </a:r>
          <a:r>
            <a:rPr lang="en-US" sz="1400" b="0" kern="1200" dirty="0" err="1"/>
            <a:t>rpower</a:t>
          </a:r>
          <a:r>
            <a:rPr lang="en-US" sz="1400" b="0" kern="1200" dirty="0"/>
            <a:t> node stat)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</a:t>
          </a:r>
          <a:r>
            <a:rPr lang="en-US" sz="1400" kern="1200" dirty="0" err="1"/>
            <a:t>Osimage</a:t>
          </a:r>
          <a:r>
            <a:rPr lang="en-US" sz="1400" kern="1200" dirty="0"/>
            <a:t> Object: object represents Operating System which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can be deployed with </a:t>
          </a:r>
          <a:r>
            <a:rPr lang="en-US" sz="1400" kern="1200" dirty="0" err="1"/>
            <a:t>xCAT</a:t>
          </a:r>
          <a:r>
            <a:rPr lang="en-US" sz="1400" kern="1200" dirty="0"/>
            <a:t> (centos7.8, centos7.9)</a:t>
          </a:r>
        </a:p>
      </dsp:txBody>
      <dsp:txXfrm rot="-5400000">
        <a:off x="2967799" y="126743"/>
        <a:ext cx="5137552" cy="2296740"/>
      </dsp:txXfrm>
    </dsp:sp>
    <dsp:sp modelId="{61F7FC16-E161-4BD7-8547-9AD7A3615229}">
      <dsp:nvSpPr>
        <dsp:cNvPr id="0" name=""/>
        <dsp:cNvSpPr/>
      </dsp:nvSpPr>
      <dsp:spPr>
        <a:xfrm>
          <a:off x="45902" y="1242"/>
          <a:ext cx="2959762" cy="2545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Objects:</a:t>
          </a:r>
        </a:p>
      </dsp:txBody>
      <dsp:txXfrm>
        <a:off x="170151" y="125491"/>
        <a:ext cx="2711264" cy="22967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28873" y="-1819785"/>
          <a:ext cx="1995151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dumpxCATdb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: Dump all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db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tables to CSV files under specified directory (often used for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reinstallation or migration)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Daily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cron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job to backup DB tables (7 days kept in /home/share/scripts/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/compressed)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## Backup </a:t>
          </a:r>
          <a:r>
            <a:rPr lang="en-US" sz="1400" kern="1200" dirty="0" err="1"/>
            <a:t>xCAT</a:t>
          </a:r>
          <a:r>
            <a:rPr lang="en-US" sz="1400" kern="1200" dirty="0"/>
            <a:t> Database on ms1 - Daily ##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0 4 * * * /home/share/scripts/xCAT/xCATdump.sh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To dump the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database </a:t>
          </a:r>
          <a:r>
            <a:rPr lang="en-US" sz="1400" u="sng" kern="1200" dirty="0">
              <a:solidFill>
                <a:schemeClr val="accent1">
                  <a:lumMod val="75000"/>
                </a:schemeClr>
              </a:solidFill>
            </a:rPr>
            <a:t>into backup directory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, including the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auditlog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and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eventlog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enter: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 err="1"/>
            <a:t>dumpxCATdb</a:t>
          </a:r>
          <a:r>
            <a:rPr lang="en-US" sz="1400" kern="1200" dirty="0"/>
            <a:t> -a -p /home/share/scripts/</a:t>
          </a:r>
          <a:r>
            <a:rPr lang="en-US" sz="1400" kern="1200" dirty="0" err="1"/>
            <a:t>xCAT</a:t>
          </a:r>
          <a:r>
            <a:rPr lang="en-US" sz="1400" kern="1200" dirty="0"/>
            <a:t>/ms1-dump-yy-dd-mm</a:t>
          </a:r>
        </a:p>
      </dsp:txBody>
      <dsp:txXfrm rot="-5400000">
        <a:off x="2423299" y="183184"/>
        <a:ext cx="5708906" cy="1800361"/>
      </dsp:txXfrm>
    </dsp:sp>
    <dsp:sp modelId="{61F7FC16-E161-4BD7-8547-9AD7A3615229}">
      <dsp:nvSpPr>
        <dsp:cNvPr id="0" name=""/>
        <dsp:cNvSpPr/>
      </dsp:nvSpPr>
      <dsp:spPr>
        <a:xfrm>
          <a:off x="35106" y="38289"/>
          <a:ext cx="2421624" cy="2090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Backup:</a:t>
          </a:r>
        </a:p>
      </dsp:txBody>
      <dsp:txXfrm>
        <a:off x="137139" y="140322"/>
        <a:ext cx="2217558" cy="1886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5C063-7C87-423D-8F63-C92D1A74704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EA4B5-DEE6-411E-B448-68F55A815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6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xCAT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 (</a:t>
            </a:r>
            <a:r>
              <a:rPr lang="en-US" b="1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  <a:t>Extreme Cloud Administration Toolkit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) is open-source distributed computing management software developed by IBM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4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46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65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89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08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8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66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https://xcat-docs.readthedocs.io/en/latest/guides/admin-guides/basic_concepts/xcat_db/index.html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https://xcat-docs.readthedocs.io/en/latest/guides/admin-guides/basic_concepts/xcat_object/index.html</a:t>
            </a:r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22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https://sourceforge.net/p/xcat/wiki/Listing_and_Modifying_the_Database/#node-group-support-in-the-xcat-tables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https://xcat-docs.readthedocs.io/en/latest/guides/admin-guides/references/man7/group.7.html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48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99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15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https://sourceforge.net/p/xcat/wiki/Listing_and_Modifying_the_Database/#database-commands-and-tables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4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https://xcat-docs.readthedocs.io/en/latest/guides/admin-guides/basic_concepts/xcat_object/node.html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https://xcat-docs.readthedocs.io/en/stable/guides/admin-guides/references/man7/node.7.html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9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10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https://xcat-docs.readthedocs.io/en/latest/guides/admin-guides/basic_concepts/xcat_object/group.html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https://xcat-docs.readthedocs.io/en/latest/guides/admin-guides/references/man7/group.7.html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79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https://xcat-docs.readthedocs.io/en/stable/guides/admin-guides/basic_concepts/xcat_object/osimage.html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https://xcat-docs.readthedocs.io/en/latest/guides/admin-guides/references/man7/osimage.7.html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27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99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https://xcat-docs.readthedocs.io/en/stable/guides/admin-guides/references/man8/makedhcp.8.html?highlight=makedhcp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https://xcat-docs.readthedocs.io/en/stable/guides/admin-guides/references/man8/makedns.8.html?highlight=makedns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98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https://xcat-docs.readthedocs.io/en/stable/guides/admin-guides/manage_clusters/common/deployment/additionalpkg/nonubuntu_os_other_pkg.html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38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https://xcat-docs.readthedocs.io/en/stable/guides/admin-guides/manage_clusters/ppc64le/diskless/copy_image.html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https://xcat-docs.readthedocs.io/en/stable/guides/admin-guides/manage_clusters/ppc64le/diskless/gen_image.html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https://xcat-docs.readthedocs.io/en/stable/guides/admin-guides/manage_clusters/ppc64le/diskless/customize_image/postscript_execution.html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https://sourceforge.net/p/xcat/wiki/Installing_Stateful_Linux_Nodes/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https://xcat-docs.readthedocs.io/en/latest/guides/admin-guides/references/man1/genimage.1.html?highlight=genimage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https://xcat-docs.readthedocs.io/en/latest/guides/admin-guides/references/man1/packimage.1.html?highlight=packimage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52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27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60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95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https://xcat-docs.readthedocs.io/en/latest/guides/admin-guides/references/man8/nodeset.8.html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https://xcat-docs.readthedocs.io/en/latest/guides/admin-guides/references/man1/rpower.1.html?highlight=rpower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https://xcat-docs.readthedocs.io/en/latest/guides/admin-guides/references/man8/rinstall.8.html?highlight=rinstall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https://xcat-docs.readthedocs.io/en/stable/guides/admin-guides/references/man1/xdsh.1.html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https://xcat-docs.readthedocs.io/en/stable/guides/admin-guides/manage_clusters/ppc64le/parallel_cmd.html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73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https://xcat-docs.readthedocs.io/en/latest/guides/admin-guides/references/man8/nodeset.8.html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https://xcat-docs.readthedocs.io/en/latest/guides/admin-guides/references/man1/rpower.1.html?highlight=rpower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https://xcat-docs.readthedocs.io/en/latest/guides/admin-guides/references/man8/rinstall.8.html?highlight=rinstall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https://xcat-docs.readthedocs.io/en/stable/guides/admin-guides/references/man1/xdsh.1.html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https://xcat-docs.readthedocs.io/en/stable/guides/admin-guides/manage_clusters/ppc64le/parallel_cmd.html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1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https://xcat-docs.readthedocs.io/en/stable/guides/admin-guides/references/man1/dumpxCATdb.1.html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https://xcat-docs.readthedocs.io/en/stable/guides/admin-guides/references/man1/restorexCATdb.1.html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5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68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384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7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4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0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1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9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4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0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2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0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1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2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02D93-4EE3-3B22-2AC4-FB42B94959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974275" y="6611620"/>
            <a:ext cx="1227137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FIU - Internal Data</a:t>
            </a:r>
          </a:p>
        </p:txBody>
      </p:sp>
    </p:spTree>
    <p:extLst>
      <p:ext uri="{BB962C8B-B14F-4D97-AF65-F5344CB8AC3E}">
        <p14:creationId xmlns:p14="http://schemas.microsoft.com/office/powerpoint/2010/main" val="213899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4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4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199769"/>
            <a:ext cx="3604268" cy="838831"/>
          </a:xfrm>
        </p:spPr>
        <p:txBody>
          <a:bodyPr anchor="b">
            <a:noAutofit/>
          </a:bodyPr>
          <a:lstStyle/>
          <a:p>
            <a:pPr algn="l"/>
            <a:r>
              <a:rPr lang="en-US" sz="2400" b="1" dirty="0">
                <a:solidFill>
                  <a:schemeClr val="tx2"/>
                </a:solidFill>
              </a:rPr>
              <a:t>HPC Roary Cluster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</a:rPr>
              <a:t>Management Nodes –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</a:rPr>
              <a:t>Part 2 – </a:t>
            </a:r>
            <a:r>
              <a:rPr lang="en-US" sz="2400" b="1" dirty="0" err="1">
                <a:solidFill>
                  <a:schemeClr val="tx2"/>
                </a:solidFill>
              </a:rPr>
              <a:t>xCAT</a:t>
            </a:r>
            <a:r>
              <a:rPr lang="en-US" sz="2400" b="1" dirty="0">
                <a:solidFill>
                  <a:schemeClr val="tx2"/>
                </a:solidFill>
              </a:rPr>
              <a:t> Management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CB7B52-62BF-75E5-C12C-CF1AB9895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" y="1676400"/>
            <a:ext cx="3859448" cy="3859448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grpSp>
        <p:nvGrpSpPr>
          <p:cNvPr id="1053" name="Group 104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054" name="Freeform: Shape 104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5" name="Freeform: Shape 104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46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HPC Management Nodes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608572"/>
              </p:ext>
            </p:extLst>
          </p:nvPr>
        </p:nvGraphicFramePr>
        <p:xfrm>
          <a:off x="485030" y="2071316"/>
          <a:ext cx="8229600" cy="4253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462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Role of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414651"/>
              </p:ext>
            </p:extLst>
          </p:nvPr>
        </p:nvGraphicFramePr>
        <p:xfrm>
          <a:off x="485030" y="1948069"/>
          <a:ext cx="8229600" cy="4147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011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398828"/>
              </p:ext>
            </p:extLst>
          </p:nvPr>
        </p:nvGraphicFramePr>
        <p:xfrm>
          <a:off x="76200" y="1948069"/>
          <a:ext cx="8915400" cy="3402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412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326867"/>
              </p:ext>
            </p:extLst>
          </p:nvPr>
        </p:nvGraphicFramePr>
        <p:xfrm>
          <a:off x="485030" y="1948069"/>
          <a:ext cx="8229600" cy="3443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817CD43-F3C2-DBCC-3B7D-929287DB84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437" y="3510214"/>
            <a:ext cx="4304556" cy="18237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64DAA6-D237-7B6A-6E89-8EEB20AF74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451689"/>
            <a:ext cx="3044232" cy="1882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3A791C-0A15-FD3A-DD3C-551922116F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125" y="5615678"/>
            <a:ext cx="8667750" cy="7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8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stop/start scripts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911380"/>
              </p:ext>
            </p:extLst>
          </p:nvPr>
        </p:nvGraphicFramePr>
        <p:xfrm>
          <a:off x="485030" y="2667000"/>
          <a:ext cx="8229600" cy="2471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825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5030" y="1948069"/>
          <a:ext cx="8229600" cy="1462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673717D-A57A-4045-BA6F-C2C8907BA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785" y="3685827"/>
            <a:ext cx="8638429" cy="23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0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Architecture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1EC5A1-3E6B-30E1-E55C-B18061904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90"/>
          <a:stretch/>
        </p:blipFill>
        <p:spPr>
          <a:xfrm>
            <a:off x="66335" y="205978"/>
            <a:ext cx="9077665" cy="624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397BD5-5B79-B764-9863-4235D412B6E9}"/>
              </a:ext>
            </a:extLst>
          </p:cNvPr>
          <p:cNvSpPr txBox="1"/>
          <p:nvPr/>
        </p:nvSpPr>
        <p:spPr>
          <a:xfrm>
            <a:off x="1752600" y="6454378"/>
            <a:ext cx="613276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FIU –</a:t>
            </a:r>
            <a:r>
              <a:rPr lang="en-US" dirty="0" err="1"/>
              <a:t>xCAT</a:t>
            </a:r>
            <a:r>
              <a:rPr lang="en-US" dirty="0"/>
              <a:t> Structure in the </a:t>
            </a:r>
            <a:r>
              <a:rPr lang="en-US" dirty="0" err="1"/>
              <a:t>Roary</a:t>
            </a:r>
            <a:r>
              <a:rPr lang="en-US" dirty="0"/>
              <a:t> HPC Environment</a:t>
            </a:r>
            <a:r>
              <a:rPr lang="en-US" sz="800" dirty="0"/>
              <a:t>     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(06/03/2026- Revision 2)</a:t>
            </a:r>
            <a:r>
              <a:rPr lang="en-US" sz="800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44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Basic Concepts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864311"/>
              </p:ext>
            </p:extLst>
          </p:nvPr>
        </p:nvGraphicFramePr>
        <p:xfrm>
          <a:off x="485030" y="1948069"/>
          <a:ext cx="8229600" cy="2085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673717D-A57A-4045-BA6F-C2C8907BA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785" y="4343400"/>
            <a:ext cx="8638429" cy="23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Manipulate DB Tables/Objects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011677"/>
              </p:ext>
            </p:extLst>
          </p:nvPr>
        </p:nvGraphicFramePr>
        <p:xfrm>
          <a:off x="485030" y="1948069"/>
          <a:ext cx="8229600" cy="161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C224B77-4DF8-8D1D-E650-5312DF80FE46}"/>
              </a:ext>
            </a:extLst>
          </p:cNvPr>
          <p:cNvGrpSpPr/>
          <p:nvPr/>
        </p:nvGrpSpPr>
        <p:grpSpPr>
          <a:xfrm>
            <a:off x="2956699" y="3584848"/>
            <a:ext cx="5806301" cy="1672952"/>
            <a:chOff x="2423298" y="63947"/>
            <a:chExt cx="5806301" cy="1672952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3F87AE09-9298-9AB6-B1C7-16FB0ECC42C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: Top Corners Rounded 4">
              <a:extLst>
                <a:ext uri="{FF2B5EF4-FFF2-40B4-BE49-F238E27FC236}">
                  <a16:creationId xmlns:a16="http://schemas.microsoft.com/office/drawing/2014/main" id="{2F2F4A8D-F0D4-CE1B-05C8-4F5DEA41648F}"/>
                </a:ext>
              </a:extLst>
            </p:cNvPr>
            <p:cNvSpPr txBox="1"/>
            <p:nvPr/>
          </p:nvSpPr>
          <p:spPr>
            <a:xfrm>
              <a:off x="2423299" y="136542"/>
              <a:ext cx="5733704" cy="16003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lsdef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List data object definitions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mkdef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chdef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rmdef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Create/Change/Remove data object definitions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nodels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List node group, list the nodes and their attributes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nodeadd |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odech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noderm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Add/Change/Remove node attributes from DB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Sample: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nodech</a:t>
              </a: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node1-node4 groups=all |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chdef</a:t>
              </a: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-t node -o node01 groups="all"</a:t>
              </a:r>
            </a:p>
            <a:p>
              <a:pPr>
                <a:buFont typeface="Arial" panose="020B0604020202020204" pitchFamily="34" charset="0"/>
                <a:buChar char="•"/>
              </a:pPr>
              <a:endPara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8F791-CA3B-2A92-8CBC-B1D9010B152A}"/>
              </a:ext>
            </a:extLst>
          </p:cNvPr>
          <p:cNvGrpSpPr/>
          <p:nvPr/>
        </p:nvGrpSpPr>
        <p:grpSpPr>
          <a:xfrm>
            <a:off x="568507" y="3549441"/>
            <a:ext cx="2421624" cy="1557962"/>
            <a:chOff x="35106" y="28540"/>
            <a:chExt cx="2421624" cy="155796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936BD0E-95A4-C41D-00FD-E9E35F29B62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E2815886-CD6C-F220-70B1-FD1FC04F318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Manipulate </a:t>
              </a:r>
            </a:p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 err="1">
                  <a:solidFill>
                    <a:schemeClr val="bg1"/>
                  </a:solidFill>
                </a:rPr>
                <a:t>xCAT</a:t>
              </a:r>
              <a:r>
                <a:rPr lang="en-US" sz="1700" kern="1200" dirty="0">
                  <a:solidFill>
                    <a:schemeClr val="bg1"/>
                  </a:solidFill>
                </a:rPr>
                <a:t> </a:t>
              </a:r>
              <a:r>
                <a:rPr lang="en-US" sz="1700" kern="1200" dirty="0" err="1">
                  <a:solidFill>
                    <a:schemeClr val="bg1"/>
                  </a:solidFill>
                </a:rPr>
                <a:t>Oject</a:t>
              </a:r>
              <a:r>
                <a:rPr lang="en-US" sz="1700" kern="1200" dirty="0">
                  <a:solidFill>
                    <a:schemeClr val="bg1"/>
                  </a:solidFill>
                </a:rPr>
                <a:t> Definitions: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8A44E6-7B56-FE03-49EE-83E23F301C1A}"/>
              </a:ext>
            </a:extLst>
          </p:cNvPr>
          <p:cNvGrpSpPr/>
          <p:nvPr/>
        </p:nvGrpSpPr>
        <p:grpSpPr>
          <a:xfrm>
            <a:off x="2956699" y="5183045"/>
            <a:ext cx="5806301" cy="1487150"/>
            <a:chOff x="2423298" y="63947"/>
            <a:chExt cx="5806301" cy="1487150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0E1307A9-A7DD-4946-CAF9-FB21FF25166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Top Corners Rounded 4">
              <a:extLst>
                <a:ext uri="{FF2B5EF4-FFF2-40B4-BE49-F238E27FC236}">
                  <a16:creationId xmlns:a16="http://schemas.microsoft.com/office/drawing/2014/main" id="{BD24ED09-78FA-B3E1-18A5-EBD6B3B625B1}"/>
                </a:ext>
              </a:extLst>
            </p:cNvPr>
            <p:cNvSpPr txBox="1"/>
            <p:nvPr/>
          </p:nvSpPr>
          <p:spPr>
            <a:xfrm>
              <a:off x="2423299" y="136543"/>
              <a:ext cx="5733704" cy="13419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Get detail info on columns and table definitions (or use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tabdump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-d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</a:pP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xcatdb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Complete reference</a:t>
              </a:r>
            </a:p>
            <a:p>
              <a:pPr>
                <a:lnSpc>
                  <a:spcPct val="107000"/>
                </a:lnSpc>
              </a:pPr>
              <a:r>
                <a:rPr lang="en-US" sz="1400" dirty="0"/>
                <a:t>Sample: 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object_type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table_name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| 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mkdef</a:t>
              </a:r>
              <a:endPara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3F88CB-9833-666A-E66F-EADBCF4F2AC1}"/>
              </a:ext>
            </a:extLst>
          </p:cNvPr>
          <p:cNvGrpSpPr/>
          <p:nvPr/>
        </p:nvGrpSpPr>
        <p:grpSpPr>
          <a:xfrm>
            <a:off x="568507" y="5147638"/>
            <a:ext cx="2421624" cy="1557962"/>
            <a:chOff x="35106" y="28540"/>
            <a:chExt cx="2421624" cy="155796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44BD3B8-3F27-D326-EFA3-17230AFD48B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6">
              <a:extLst>
                <a:ext uri="{FF2B5EF4-FFF2-40B4-BE49-F238E27FC236}">
                  <a16:creationId xmlns:a16="http://schemas.microsoft.com/office/drawing/2014/main" id="{39632B11-25C0-F2CD-44A7-496D93527F3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Helpful Commands: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0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Global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872969"/>
              </p:ext>
            </p:extLst>
          </p:nvPr>
        </p:nvGraphicFramePr>
        <p:xfrm>
          <a:off x="485030" y="2956957"/>
          <a:ext cx="8229600" cy="161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196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Global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6E43A5-5A16-3594-7AB2-503AC50C8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3" y="1143000"/>
            <a:ext cx="3124200" cy="55812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6B0BE0-4CDB-7D58-3BE1-3E7C5ABF0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552" y="2163062"/>
            <a:ext cx="5665248" cy="253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12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Objects Definitions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11208"/>
              </p:ext>
            </p:extLst>
          </p:nvPr>
        </p:nvGraphicFramePr>
        <p:xfrm>
          <a:off x="485030" y="1948069"/>
          <a:ext cx="8229600" cy="2547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FD550EB-84CE-75EA-4859-55B8F628F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4558" y="4803572"/>
            <a:ext cx="5486400" cy="10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4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Node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AC798-87E3-77E4-60BC-C19599EFB4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51408"/>
          <a:stretch/>
        </p:blipFill>
        <p:spPr>
          <a:xfrm>
            <a:off x="448377" y="595453"/>
            <a:ext cx="2628900" cy="61863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34A573-3871-5D56-26DE-E73EB0B431C4}"/>
              </a:ext>
            </a:extLst>
          </p:cNvPr>
          <p:cNvSpPr txBox="1"/>
          <p:nvPr/>
        </p:nvSpPr>
        <p:spPr>
          <a:xfrm>
            <a:off x="3814948" y="647700"/>
            <a:ext cx="4953000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ighlight>
                  <a:srgbClr val="FFFF00"/>
                </a:highlight>
              </a:rPr>
              <a:t>Example</a:t>
            </a:r>
            <a:endParaRPr lang="en-US" sz="900" b="1" dirty="0">
              <a:highlight>
                <a:srgbClr val="FFFF00"/>
              </a:highlight>
            </a:endParaRPr>
          </a:p>
          <a:p>
            <a:r>
              <a:rPr lang="en-US" sz="900" dirty="0"/>
              <a:t>Object name: n132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addkcmdline</a:t>
            </a:r>
            <a:r>
              <a:rPr lang="en-US" sz="900" dirty="0"/>
              <a:t>=</a:t>
            </a:r>
            <a:r>
              <a:rPr lang="en-US" sz="900" dirty="0" err="1"/>
              <a:t>biosdevname</a:t>
            </a:r>
            <a:r>
              <a:rPr lang="en-US" sz="900" dirty="0"/>
              <a:t>=0 </a:t>
            </a:r>
            <a:r>
              <a:rPr lang="en-US" sz="900" dirty="0" err="1"/>
              <a:t>net.ifnames</a:t>
            </a:r>
            <a:r>
              <a:rPr lang="en-US" sz="900" dirty="0"/>
              <a:t>=0</a:t>
            </a:r>
          </a:p>
          <a:p>
            <a:r>
              <a:rPr lang="en-US" sz="900" dirty="0"/>
              <a:t>    arch=x86_64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bmc</a:t>
            </a:r>
            <a:r>
              <a:rPr lang="en-US" sz="900" dirty="0"/>
              <a:t>=r132</a:t>
            </a:r>
          </a:p>
          <a:p>
            <a:r>
              <a:rPr lang="en-US" sz="900" dirty="0"/>
              <a:t>    chain=</a:t>
            </a:r>
            <a:r>
              <a:rPr lang="en-US" sz="900" dirty="0" err="1"/>
              <a:t>runcmd</a:t>
            </a:r>
            <a:r>
              <a:rPr lang="en-US" sz="900" dirty="0"/>
              <a:t>=</a:t>
            </a:r>
            <a:r>
              <a:rPr lang="en-US" sz="900" dirty="0" err="1"/>
              <a:t>bmcsetup,osimage</a:t>
            </a:r>
            <a:r>
              <a:rPr lang="en-US" sz="900" dirty="0"/>
              <a:t>=alma9.5-x86_64-netboot-compute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cpucount</a:t>
            </a:r>
            <a:r>
              <a:rPr lang="en-US" sz="900" dirty="0"/>
              <a:t>=64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cputype</a:t>
            </a:r>
            <a:r>
              <a:rPr lang="en-US" sz="900" dirty="0"/>
              <a:t>=Intel(R) Xeon(R) Gold 6430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currchain</a:t>
            </a:r>
            <a:r>
              <a:rPr lang="en-US" sz="900" dirty="0"/>
              <a:t>=standby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currstate</a:t>
            </a:r>
            <a:r>
              <a:rPr lang="en-US" sz="900" dirty="0"/>
              <a:t>=</a:t>
            </a:r>
            <a:r>
              <a:rPr lang="en-US" sz="900" dirty="0" err="1"/>
              <a:t>netboot</a:t>
            </a:r>
            <a:r>
              <a:rPr lang="en-US" sz="900" dirty="0"/>
              <a:t> alma9.7-x86_64-compute</a:t>
            </a:r>
          </a:p>
          <a:p>
            <a:r>
              <a:rPr lang="en-US" sz="900" dirty="0"/>
              <a:t>    groups=alma9,hpe</a:t>
            </a:r>
          </a:p>
          <a:p>
            <a:r>
              <a:rPr lang="en-US" sz="900" dirty="0"/>
              <a:t>    hostnames=n132-ens15f1d1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installnic</a:t>
            </a:r>
            <a:r>
              <a:rPr lang="en-US" sz="900" dirty="0"/>
              <a:t>=mac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ip</a:t>
            </a:r>
            <a:r>
              <a:rPr lang="en-US" sz="900" dirty="0"/>
              <a:t>=192.168.246.202</a:t>
            </a:r>
          </a:p>
          <a:p>
            <a:r>
              <a:rPr lang="en-US" sz="900" dirty="0"/>
              <a:t>    mac=d4:04:e6:b4:8d:62|d4:04:e6:b4:8d:63!n132-ens15f1d1</a:t>
            </a:r>
          </a:p>
          <a:p>
            <a:r>
              <a:rPr lang="en-US" sz="900" dirty="0"/>
              <a:t>    memory=3096244MB</a:t>
            </a:r>
          </a:p>
          <a:p>
            <a:r>
              <a:rPr lang="en-US" sz="900" dirty="0"/>
              <a:t>    mgt=</a:t>
            </a:r>
            <a:r>
              <a:rPr lang="en-US" sz="900" dirty="0" err="1"/>
              <a:t>ipmi</a:t>
            </a:r>
            <a:endParaRPr lang="en-US" sz="900" dirty="0"/>
          </a:p>
          <a:p>
            <a:r>
              <a:rPr lang="en-US" sz="900" dirty="0"/>
              <a:t>    </a:t>
            </a:r>
            <a:r>
              <a:rPr lang="en-US" sz="900" dirty="0" err="1"/>
              <a:t>mtm</a:t>
            </a:r>
            <a:r>
              <a:rPr lang="en-US" sz="900" dirty="0"/>
              <a:t>=HPE:P52499-B21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netboot</a:t>
            </a:r>
            <a:r>
              <a:rPr lang="en-US" sz="900" dirty="0"/>
              <a:t>=</a:t>
            </a:r>
            <a:r>
              <a:rPr lang="en-US" sz="900" dirty="0" err="1"/>
              <a:t>xnba</a:t>
            </a:r>
            <a:endParaRPr lang="en-US" sz="900" dirty="0"/>
          </a:p>
          <a:p>
            <a:r>
              <a:rPr lang="en-US" sz="900" dirty="0"/>
              <a:t>    nicdevices.bond0=eth0|eth1</a:t>
            </a:r>
          </a:p>
          <a:p>
            <a:r>
              <a:rPr lang="en-US" sz="900" dirty="0"/>
              <a:t>    nicdevices.bond0.418=bond0</a:t>
            </a:r>
          </a:p>
          <a:p>
            <a:r>
              <a:rPr lang="en-US" sz="900" dirty="0"/>
              <a:t>    nicextraparams.bond0=mode=802.3ad </a:t>
            </a:r>
            <a:r>
              <a:rPr lang="en-US" sz="900" dirty="0" err="1"/>
              <a:t>miimon</a:t>
            </a:r>
            <a:r>
              <a:rPr lang="en-US" sz="900" dirty="0"/>
              <a:t>=100 ipv4.dns=192.168.246.2 ipv4.dns-search=roary.net</a:t>
            </a:r>
          </a:p>
          <a:p>
            <a:r>
              <a:rPr lang="en-US" sz="900" dirty="0"/>
              <a:t>    nichostnamesuffixes.bond0.418=-data</a:t>
            </a:r>
          </a:p>
          <a:p>
            <a:r>
              <a:rPr lang="en-US" sz="900" dirty="0"/>
              <a:t>    nicips.bond0.418=192.168.233.202</a:t>
            </a:r>
          </a:p>
          <a:p>
            <a:r>
              <a:rPr lang="en-US" sz="900" dirty="0"/>
              <a:t>    nicips.bond0=192.168.246.202</a:t>
            </a:r>
          </a:p>
          <a:p>
            <a:r>
              <a:rPr lang="en-US" sz="900" dirty="0"/>
              <a:t>    nicnetworks.bond0.418=data</a:t>
            </a:r>
          </a:p>
          <a:p>
            <a:r>
              <a:rPr lang="en-US" sz="900" dirty="0"/>
              <a:t>    nicnetworks.bond0=net427</a:t>
            </a:r>
          </a:p>
          <a:p>
            <a:r>
              <a:rPr lang="en-US" sz="900" dirty="0"/>
              <a:t>    nictypes.bond0.418=</a:t>
            </a:r>
            <a:r>
              <a:rPr lang="en-US" sz="900" dirty="0" err="1"/>
              <a:t>vlan</a:t>
            </a:r>
            <a:endParaRPr lang="en-US" sz="900" dirty="0"/>
          </a:p>
          <a:p>
            <a:r>
              <a:rPr lang="en-US" sz="900" dirty="0"/>
              <a:t>    nictypes.eth0=Ethernet</a:t>
            </a:r>
          </a:p>
          <a:p>
            <a:r>
              <a:rPr lang="en-US" sz="900" dirty="0"/>
              <a:t>    nictypes.eth1=Ethernet</a:t>
            </a:r>
          </a:p>
          <a:p>
            <a:r>
              <a:rPr lang="en-US" sz="900" dirty="0"/>
              <a:t>    nictypes.bond0=bond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os</a:t>
            </a:r>
            <a:r>
              <a:rPr lang="en-US" sz="900" dirty="0"/>
              <a:t>=alma9.7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postbootscripts</a:t>
            </a:r>
            <a:r>
              <a:rPr lang="en-US" sz="900" dirty="0"/>
              <a:t>=</a:t>
            </a:r>
            <a:r>
              <a:rPr lang="en-US" sz="900" dirty="0" err="1"/>
              <a:t>otherpkgs</a:t>
            </a:r>
            <a:endParaRPr lang="en-US" sz="900" dirty="0"/>
          </a:p>
          <a:p>
            <a:r>
              <a:rPr lang="en-US" sz="900" dirty="0"/>
              <a:t>    postscripts=syslog,remoteshell,syncfiles,setupntp,roary-sethostname,confignetwork,roary-repo-alma9,roary-ldap,roary-nouserlogin,roary-setuplustre,roary-slurm</a:t>
            </a:r>
          </a:p>
          <a:p>
            <a:r>
              <a:rPr lang="en-US" sz="900" dirty="0"/>
              <a:t>    profile=compute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provmethod</a:t>
            </a:r>
            <a:r>
              <a:rPr lang="en-US" sz="900" dirty="0"/>
              <a:t>=alma9.7-x86_64-netbootIB-compute</a:t>
            </a:r>
          </a:p>
          <a:p>
            <a:r>
              <a:rPr lang="en-US" sz="900" dirty="0"/>
              <a:t>    serial=3M1D1T10JW</a:t>
            </a:r>
          </a:p>
          <a:p>
            <a:r>
              <a:rPr lang="en-US" sz="900" dirty="0"/>
              <a:t>    status=booted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statustime</a:t>
            </a:r>
            <a:r>
              <a:rPr lang="en-US" sz="900" dirty="0"/>
              <a:t>=06-01-2026 14:50:29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supportedarchs</a:t>
            </a:r>
            <a:r>
              <a:rPr lang="en-US" sz="900" dirty="0"/>
              <a:t>=x86,x86_64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updatestatus</a:t>
            </a:r>
            <a:r>
              <a:rPr lang="en-US" sz="900" dirty="0"/>
              <a:t>=synced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updatestatustime</a:t>
            </a:r>
            <a:r>
              <a:rPr lang="en-US" sz="900" dirty="0"/>
              <a:t>=06-01-2026 14:51:59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1632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628854-FCD3-E0A3-8893-B793F996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6" name="Rectangle 13">
            <a:extLst>
              <a:ext uri="{FF2B5EF4-FFF2-40B4-BE49-F238E27FC236}">
                <a16:creationId xmlns:a16="http://schemas.microsoft.com/office/drawing/2014/main" id="{866B91AE-72B7-7A7B-B210-00C01FAE7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A78F985-B5B2-B9C9-9A2C-05F03435C72F}"/>
              </a:ext>
            </a:extLst>
          </p:cNvPr>
          <p:cNvSpPr txBox="1">
            <a:spLocks/>
          </p:cNvSpPr>
          <p:nvPr/>
        </p:nvSpPr>
        <p:spPr>
          <a:xfrm>
            <a:off x="628997" y="-32778"/>
            <a:ext cx="8285260" cy="114008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Node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99B24827-315F-0753-7461-DFDF84463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E4E539-159B-ED92-1449-40ABEF21B32B}"/>
              </a:ext>
            </a:extLst>
          </p:cNvPr>
          <p:cNvSpPr txBox="1">
            <a:spLocks/>
          </p:cNvSpPr>
          <p:nvPr/>
        </p:nvSpPr>
        <p:spPr>
          <a:xfrm>
            <a:off x="628997" y="2047136"/>
            <a:ext cx="5181600" cy="30427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Sample command to add a new node and set attributes values:</a:t>
            </a:r>
          </a:p>
          <a:p>
            <a:r>
              <a:rPr lang="en-US" sz="1200" dirty="0" err="1"/>
              <a:t>nodeadd</a:t>
            </a:r>
            <a:r>
              <a:rPr lang="en-US" sz="1200" dirty="0"/>
              <a:t> n132 groups=alma9,hpe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ip</a:t>
            </a:r>
            <a:r>
              <a:rPr lang="en-US" sz="1200" dirty="0"/>
              <a:t>=192.168.246.202 \</a:t>
            </a:r>
            <a:br>
              <a:rPr lang="en-US" sz="1200" dirty="0"/>
            </a:br>
            <a:r>
              <a:rPr lang="en-US" sz="1200" dirty="0"/>
              <a:t>    mac=d4:04:e6:b4:8d:62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netboot</a:t>
            </a:r>
            <a:r>
              <a:rPr lang="en-US" sz="1200" dirty="0"/>
              <a:t>=</a:t>
            </a:r>
            <a:r>
              <a:rPr lang="en-US" sz="1200" dirty="0" err="1"/>
              <a:t>xnba</a:t>
            </a:r>
            <a:r>
              <a:rPr lang="en-US" sz="1200" dirty="0"/>
              <a:t> </a:t>
            </a:r>
            <a:r>
              <a:rPr lang="en-US" sz="1200" dirty="0" err="1"/>
              <a:t>installnic</a:t>
            </a:r>
            <a:r>
              <a:rPr lang="en-US" sz="1200" dirty="0"/>
              <a:t>=mac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os</a:t>
            </a:r>
            <a:r>
              <a:rPr lang="en-US" sz="1200" dirty="0"/>
              <a:t>=alma9.7 arch=x86_64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addkcmdline</a:t>
            </a:r>
            <a:r>
              <a:rPr lang="en-US" sz="1200" dirty="0"/>
              <a:t>="</a:t>
            </a:r>
            <a:r>
              <a:rPr lang="en-US" sz="1200" dirty="0" err="1"/>
              <a:t>biosdevname</a:t>
            </a:r>
            <a:r>
              <a:rPr lang="en-US" sz="1200" dirty="0"/>
              <a:t>=0 </a:t>
            </a:r>
            <a:r>
              <a:rPr lang="en-US" sz="1200" dirty="0" err="1"/>
              <a:t>net.ifnames</a:t>
            </a:r>
            <a:r>
              <a:rPr lang="en-US" sz="1200" dirty="0"/>
              <a:t>=0"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bmc</a:t>
            </a:r>
            <a:r>
              <a:rPr lang="en-US" sz="1200" dirty="0"/>
              <a:t>=r132 mgt=</a:t>
            </a:r>
            <a:r>
              <a:rPr lang="en-US" sz="1200" dirty="0" err="1"/>
              <a:t>ipmi</a:t>
            </a:r>
            <a:endParaRPr lang="en-US" sz="1200" dirty="0"/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provmethod</a:t>
            </a:r>
            <a:r>
              <a:rPr lang="en-US" sz="1200" dirty="0"/>
              <a:t>=alma9.7-x86_64-netbootIB-compute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postscripts="syslog,remoteshell,syncfiles,setupntp,roary-sethostname,confignetwork,roary-repo-alma9,roary-ldap,roary-nouserlogin,roary-setuplustre,roary-slurm" </a:t>
            </a:r>
          </a:p>
          <a:p>
            <a:pPr marL="114300" indent="0">
              <a:buNone/>
            </a:pP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901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D08367-4D1B-02B5-8EFC-65AE329E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6" name="Rectangle 13">
            <a:extLst>
              <a:ext uri="{FF2B5EF4-FFF2-40B4-BE49-F238E27FC236}">
                <a16:creationId xmlns:a16="http://schemas.microsoft.com/office/drawing/2014/main" id="{C79170B0-58F7-532A-E38F-A5198788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8A61B0-D65D-398F-BCB9-3FF58232FE8D}"/>
              </a:ext>
            </a:extLst>
          </p:cNvPr>
          <p:cNvSpPr txBox="1">
            <a:spLocks/>
          </p:cNvSpPr>
          <p:nvPr/>
        </p:nvSpPr>
        <p:spPr>
          <a:xfrm>
            <a:off x="429369" y="238539"/>
            <a:ext cx="828526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>
                    <a:lumMod val="75000"/>
                  </a:schemeClr>
                </a:solidFill>
              </a:rPr>
              <a:t>xCAT – Groups Objects</a:t>
            </a:r>
            <a:br>
              <a:rPr lang="en-US" sz="360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9E223FFA-26D3-F724-D242-1EB7FF3F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6E819434-802F-F26F-81F5-0C2271672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972495"/>
              </p:ext>
            </p:extLst>
          </p:nvPr>
        </p:nvGraphicFramePr>
        <p:xfrm>
          <a:off x="3717417" y="2054234"/>
          <a:ext cx="5349240" cy="1905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osimage (provmethod)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alma9.7-x86_64-netbootIB-compute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n003,n006-n012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n095-n102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n126-n127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n128-n133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alma9.7-x86_64-netbootIB-compute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gpu-a100-01..07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alma9.5-x86_64-netboot-cudaruntime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g009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alma9.5-x86_64-netboot-cudaruntime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alma9.5-x86_64-install-compute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alma9.5-x86_64-install-compute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09562C9B-63EA-486A-5C93-DA6A10E41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643576"/>
              </p:ext>
            </p:extLst>
          </p:nvPr>
        </p:nvGraphicFramePr>
        <p:xfrm>
          <a:off x="3717417" y="4020194"/>
          <a:ext cx="3017520" cy="40233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viz &amp; R720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5733ECDA-1202-AF87-36D9-522027E54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801542"/>
              </p:ext>
            </p:extLst>
          </p:nvPr>
        </p:nvGraphicFramePr>
        <p:xfrm>
          <a:off x="3717417" y="4614554"/>
          <a:ext cx="2834640" cy="9525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83EBCBA0-74FA-7726-1636-EE3E3AD38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145447"/>
              </p:ext>
            </p:extLst>
          </p:nvPr>
        </p:nvGraphicFramePr>
        <p:xfrm>
          <a:off x="6689217" y="4614554"/>
          <a:ext cx="2377440" cy="60350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nodetype table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nodetype table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B4DE089A-500A-8DBB-BD08-A16C665E2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523207"/>
              </p:ext>
            </p:extLst>
          </p:nvPr>
        </p:nvGraphicFramePr>
        <p:xfrm>
          <a:off x="3717417" y="5437514"/>
          <a:ext cx="2834640" cy="1143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hpcslurm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slurmmn,alma9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hpcxcat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xcatmn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l01-l03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hpcdns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2">
            <a:extLst>
              <a:ext uri="{FF2B5EF4-FFF2-40B4-BE49-F238E27FC236}">
                <a16:creationId xmlns:a16="http://schemas.microsoft.com/office/drawing/2014/main" id="{CE622761-26DA-FB62-5C22-03B4507EFF8E}"/>
              </a:ext>
            </a:extLst>
          </p:cNvPr>
          <p:cNvSpPr/>
          <p:nvPr/>
        </p:nvSpPr>
        <p:spPr>
          <a:xfrm>
            <a:off x="274320" y="177165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 groups currently in use:</a:t>
            </a:r>
            <a:endParaRPr lang="en-US" sz="1300" dirty="0"/>
          </a:p>
          <a:p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command to add a new node:</a:t>
            </a:r>
            <a:endParaRPr lang="en-US" sz="13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3C9A516-9C91-58E3-46CF-D6A4E0A73053}"/>
              </a:ext>
            </a:extLst>
          </p:cNvPr>
          <p:cNvSpPr/>
          <p:nvPr/>
        </p:nvSpPr>
        <p:spPr>
          <a:xfrm>
            <a:off x="274320" y="259461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nodeadd gpu-a100-01 groups=raptor,alma9</a:t>
            </a:r>
            <a:endParaRPr lang="en-US" sz="1100" dirty="0"/>
          </a:p>
          <a:p>
            <a:r>
              <a:rPr lang="en-US" sz="1100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nodeadd n126-n133 groups=alma9,hpe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31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BBA768-3ED6-1388-BD43-FFE6206F32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85"/>
          <a:stretch/>
        </p:blipFill>
        <p:spPr>
          <a:xfrm>
            <a:off x="463236" y="1838133"/>
            <a:ext cx="3048000" cy="48885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48998A-80BE-3150-95AE-0728CC4E166E}"/>
              </a:ext>
            </a:extLst>
          </p:cNvPr>
          <p:cNvSpPr txBox="1"/>
          <p:nvPr/>
        </p:nvSpPr>
        <p:spPr>
          <a:xfrm>
            <a:off x="4865769" y="1873693"/>
            <a:ext cx="3853940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indent="0">
              <a:buNone/>
            </a:pPr>
            <a:r>
              <a:rPr lang="en-US" sz="800" b="1" dirty="0">
                <a:highlight>
                  <a:srgbClr val="FFFF00"/>
                </a:highlight>
              </a:rPr>
              <a:t>Example 1</a:t>
            </a:r>
          </a:p>
          <a:p>
            <a:pPr marL="114300" indent="0">
              <a:buNone/>
            </a:pP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Object name: alma9.7-x86_64-netbootIB-compute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exlist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/alma/compute.alma9.x86_64.exlist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imagetype</a:t>
            </a:r>
            <a:r>
              <a:rPr lang="en-US" sz="800" dirty="0"/>
              <a:t>=</a:t>
            </a:r>
            <a:r>
              <a:rPr lang="en-US" sz="800" dirty="0" err="1"/>
              <a:t>linux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kernelver</a:t>
            </a:r>
            <a:r>
              <a:rPr lang="en-US" sz="800" dirty="0"/>
              <a:t>=5.14.0-611.54.3.el9_7.x86_64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osarch</a:t>
            </a:r>
            <a:r>
              <a:rPr lang="en-US" sz="800" dirty="0"/>
              <a:t>=x86_64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osdistroname</a:t>
            </a:r>
            <a:r>
              <a:rPr lang="en-US" sz="800" dirty="0"/>
              <a:t>=alma9.7-x86_64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osname</a:t>
            </a:r>
            <a:r>
              <a:rPr lang="en-US" sz="800" dirty="0"/>
              <a:t>=Linux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osvers</a:t>
            </a:r>
            <a:r>
              <a:rPr lang="en-US" sz="800" dirty="0"/>
              <a:t>=alma9.7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otherpkgdir</a:t>
            </a:r>
            <a:r>
              <a:rPr lang="en-US" sz="800" dirty="0"/>
              <a:t>=/install/post/</a:t>
            </a:r>
            <a:r>
              <a:rPr lang="en-US" sz="800" dirty="0" err="1"/>
              <a:t>otherpkgs</a:t>
            </a:r>
            <a:r>
              <a:rPr lang="en-US" sz="800" dirty="0"/>
              <a:t>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otherpkglist</a:t>
            </a:r>
            <a:r>
              <a:rPr lang="en-US" sz="800" dirty="0"/>
              <a:t>=/install/custom/</a:t>
            </a:r>
            <a:r>
              <a:rPr lang="en-US" sz="800" dirty="0" err="1"/>
              <a:t>netboot</a:t>
            </a:r>
            <a:r>
              <a:rPr lang="en-US" sz="800" dirty="0"/>
              <a:t>/alma/ib.alma9.7.doca.pkglist</a:t>
            </a:r>
          </a:p>
          <a:p>
            <a:pPr marL="114300" indent="0">
              <a:buNone/>
            </a:pPr>
            <a:r>
              <a:rPr lang="en-US" sz="800" dirty="0"/>
              <a:t>    permission=755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pkgdir</a:t>
            </a:r>
            <a:r>
              <a:rPr lang="en-US" sz="800" dirty="0"/>
              <a:t>=/install/alma9.7/x86_64,/install/kernels/5.14.0-611.54.3.el9_7.x86_64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/alma/compute.alma9.x86_64.pkglist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postinstall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/alma/compute.alma9.x86_64.postinstall</a:t>
            </a:r>
          </a:p>
          <a:p>
            <a:pPr marL="114300" indent="0">
              <a:buNone/>
            </a:pPr>
            <a:r>
              <a:rPr lang="en-US" sz="800" dirty="0"/>
              <a:t>    profile=compute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provmethod</a:t>
            </a:r>
            <a:r>
              <a:rPr lang="en-US" sz="800" dirty="0"/>
              <a:t>=</a:t>
            </a:r>
            <a:r>
              <a:rPr lang="en-US" sz="800" dirty="0" err="1"/>
              <a:t>netboot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rootimgdir</a:t>
            </a:r>
            <a:r>
              <a:rPr lang="en-US" sz="800" dirty="0"/>
              <a:t>=/install/</a:t>
            </a:r>
            <a:r>
              <a:rPr lang="en-US" sz="800" dirty="0" err="1"/>
              <a:t>netboot</a:t>
            </a:r>
            <a:r>
              <a:rPr lang="en-US" sz="800" dirty="0"/>
              <a:t>/alma9.7/x86_64/compute-</a:t>
            </a:r>
            <a:r>
              <a:rPr lang="en-US" sz="800" dirty="0" err="1"/>
              <a:t>ib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11:17:21 </a:t>
            </a:r>
            <a:r>
              <a:rPr lang="en-US" sz="800" dirty="0" err="1"/>
              <a:t>hpcxcat</a:t>
            </a:r>
            <a:r>
              <a:rPr lang="en-US" sz="800" dirty="0"/>
              <a:t> /home/</a:t>
            </a:r>
            <a:r>
              <a:rPr lang="en-US" sz="800" dirty="0" err="1"/>
              <a:t>lenz</a:t>
            </a:r>
            <a:r>
              <a:rPr lang="en-US" sz="800" dirty="0"/>
              <a:t> # </a:t>
            </a:r>
            <a:r>
              <a:rPr lang="en-US" sz="800" dirty="0" err="1"/>
              <a:t>lsos</a:t>
            </a:r>
            <a:r>
              <a:rPr lang="en-US" sz="800" dirty="0"/>
              <a:t> alma9.7-x86_64-netboot-cudaruntime</a:t>
            </a:r>
          </a:p>
          <a:p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C472C-3B40-E3D1-CA26-45EDB9486D2C}"/>
              </a:ext>
            </a:extLst>
          </p:cNvPr>
          <p:cNvSpPr txBox="1"/>
          <p:nvPr/>
        </p:nvSpPr>
        <p:spPr>
          <a:xfrm>
            <a:off x="4014241" y="4427402"/>
            <a:ext cx="42049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indent="0">
              <a:buNone/>
            </a:pPr>
            <a:r>
              <a:rPr lang="en-US" sz="800" b="1" dirty="0">
                <a:highlight>
                  <a:srgbClr val="FFFF00"/>
                </a:highlight>
              </a:rPr>
              <a:t>Example 2</a:t>
            </a:r>
          </a:p>
          <a:p>
            <a:pPr marL="114300" indent="0">
              <a:buNone/>
            </a:pPr>
            <a:r>
              <a:rPr lang="en-US" sz="800" dirty="0"/>
              <a:t>Object name: alma9.7-x86_64-netboot-cudaruntime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exlist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/alma/compute.alma9.x86_64.exlist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imagetype</a:t>
            </a:r>
            <a:r>
              <a:rPr lang="en-US" sz="800" dirty="0"/>
              <a:t>=</a:t>
            </a:r>
            <a:r>
              <a:rPr lang="en-US" sz="800" dirty="0" err="1"/>
              <a:t>linux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kernelver</a:t>
            </a:r>
            <a:r>
              <a:rPr lang="en-US" sz="800" dirty="0"/>
              <a:t>=5.14.0-611.54.3.el9_7.x86_64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osarch</a:t>
            </a:r>
            <a:r>
              <a:rPr lang="en-US" sz="800" dirty="0"/>
              <a:t>=x86_64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osdistroname</a:t>
            </a:r>
            <a:r>
              <a:rPr lang="en-US" sz="800" dirty="0"/>
              <a:t>=alma9.7-x86_64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osname</a:t>
            </a:r>
            <a:r>
              <a:rPr lang="en-US" sz="800" dirty="0"/>
              <a:t>=Linux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osvers</a:t>
            </a:r>
            <a:r>
              <a:rPr lang="en-US" sz="800" dirty="0"/>
              <a:t>=alma9.7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otherpkgdir</a:t>
            </a:r>
            <a:r>
              <a:rPr lang="en-US" sz="800" dirty="0"/>
              <a:t>=/install/post/</a:t>
            </a:r>
            <a:r>
              <a:rPr lang="en-US" sz="800" dirty="0" err="1"/>
              <a:t>otherpkgs</a:t>
            </a:r>
            <a:r>
              <a:rPr lang="en-US" sz="800" dirty="0"/>
              <a:t>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otherpkglist</a:t>
            </a:r>
            <a:r>
              <a:rPr lang="en-US" sz="800" dirty="0"/>
              <a:t>=/install/custom/</a:t>
            </a:r>
            <a:r>
              <a:rPr lang="en-US" sz="800" dirty="0" err="1"/>
              <a:t>netboot</a:t>
            </a:r>
            <a:r>
              <a:rPr lang="en-US" sz="800" dirty="0"/>
              <a:t>/alma/cudaruntime.alma9.7.x86_64.otherpkgs.pkglist</a:t>
            </a:r>
          </a:p>
          <a:p>
            <a:pPr marL="114300" indent="0">
              <a:buNone/>
            </a:pPr>
            <a:r>
              <a:rPr lang="en-US" sz="800" dirty="0"/>
              <a:t>    permission=755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pkgdir</a:t>
            </a:r>
            <a:r>
              <a:rPr lang="en-US" sz="800" dirty="0"/>
              <a:t>=/install/alma9.7/x86_64,/install/kernels/5.14.0-611.54.3.el9_7.x86_64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/alma/compute.alma9.x86_64.pkglist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postinstall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/alma/compute.alma9.x86_64.postinstall</a:t>
            </a:r>
          </a:p>
          <a:p>
            <a:pPr marL="114300" indent="0">
              <a:buNone/>
            </a:pPr>
            <a:r>
              <a:rPr lang="en-US" sz="800" dirty="0"/>
              <a:t>    profile=compute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provmethod</a:t>
            </a:r>
            <a:r>
              <a:rPr lang="en-US" sz="800" dirty="0"/>
              <a:t>=</a:t>
            </a:r>
            <a:r>
              <a:rPr lang="en-US" sz="800" dirty="0" err="1"/>
              <a:t>netboot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rootimgdir</a:t>
            </a:r>
            <a:r>
              <a:rPr lang="en-US" sz="800" dirty="0"/>
              <a:t>=/install/</a:t>
            </a:r>
            <a:r>
              <a:rPr lang="en-US" sz="800" dirty="0" err="1"/>
              <a:t>netboot</a:t>
            </a:r>
            <a:r>
              <a:rPr lang="en-US" sz="800" dirty="0"/>
              <a:t>/alma9.7/x86_64/</a:t>
            </a:r>
            <a:r>
              <a:rPr lang="en-US" sz="800" dirty="0" err="1"/>
              <a:t>cudaruntime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11:17:42 </a:t>
            </a:r>
            <a:r>
              <a:rPr lang="en-US" sz="800" dirty="0" err="1"/>
              <a:t>hpcxcat</a:t>
            </a:r>
            <a:r>
              <a:rPr lang="en-US" sz="800" dirty="0"/>
              <a:t> /home/</a:t>
            </a:r>
            <a:r>
              <a:rPr lang="en-US" sz="800" dirty="0" err="1"/>
              <a:t>lenz</a:t>
            </a:r>
            <a:r>
              <a:rPr lang="en-US" sz="800" dirty="0"/>
              <a:t> # </a:t>
            </a:r>
            <a:r>
              <a:rPr lang="en-US" sz="800" dirty="0" err="1"/>
              <a:t>lsos</a:t>
            </a:r>
            <a:r>
              <a:rPr lang="en-US" sz="800" dirty="0"/>
              <a:t> alma9.7-x86_64-netboot-compute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10478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2FF1E6-A8DB-151C-2FA2-C992178EF63B}"/>
              </a:ext>
            </a:extLst>
          </p:cNvPr>
          <p:cNvSpPr txBox="1">
            <a:spLocks/>
          </p:cNvSpPr>
          <p:nvPr/>
        </p:nvSpPr>
        <p:spPr>
          <a:xfrm>
            <a:off x="137341" y="2133600"/>
            <a:ext cx="8867032" cy="400202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definition currently used for diskless – alma9.5:</a:t>
            </a:r>
          </a:p>
          <a:p>
            <a:pPr marL="11430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-Created:</a:t>
            </a:r>
          </a:p>
          <a:p>
            <a:pPr marL="114300" indent="0">
              <a:buNone/>
            </a:pPr>
            <a:r>
              <a:rPr lang="en-US" sz="1400" dirty="0"/>
              <a:t>&gt; mkdef -t osimage -o alma9.5-x86_64-netboot-compute profile=compute imagetype=linux osarch=x86_64 osname=Linux osvers=alma9.5 permission=755 provmethod=netboot rootimgdir=/install/netboot/alma9.5/x86_64/compute pkgdir=/install/alma9.5/x86_64</a:t>
            </a:r>
          </a:p>
          <a:p>
            <a:pPr marL="11430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-Adding package definition and directories:</a:t>
            </a:r>
          </a:p>
          <a:p>
            <a:pPr marL="114300" indent="0">
              <a:buNone/>
            </a:pPr>
            <a:r>
              <a:rPr lang="en-US" sz="1200" dirty="0"/>
              <a:t>&gt; chdef -t osimage -o alma9.5-x86_64-netboot-compute exlist=/opt/xcat/share/xcat/netboot/alma/compute.alma9.x86_64.exlist otherpkgdir=/install/post/otherpkgs/alma9.5/x86_64 otherpkglist=/install/custom/netboot/alma/compute.alma9.x86_64.otherpkgs.pkglist pkglist=/opt/xcat/share/xcat/netboot/alma/compute.alma9.x86_64.pkglist postinstall=/opt/xcat/share/xcat/netboot/alma/compute.alma9.x86_64.postinstall</a:t>
            </a:r>
          </a:p>
          <a:p>
            <a:pPr marL="114300" indent="0">
              <a:buNone/>
            </a:pPr>
            <a:endParaRPr lang="en-US" sz="12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Command to list all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definitions (current &amp; previous OS versions):</a:t>
            </a:r>
            <a:endParaRPr lang="en-US" sz="1500" dirty="0"/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lsdef</a:t>
            </a:r>
            <a:r>
              <a:rPr lang="en-US" sz="1200" dirty="0"/>
              <a:t> –t </a:t>
            </a:r>
            <a:r>
              <a:rPr lang="en-US" sz="1200" dirty="0" err="1"/>
              <a:t>osimage</a:t>
            </a:r>
            <a:endParaRPr lang="en-US" sz="12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See attributes of current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lsdef</a:t>
            </a:r>
            <a:r>
              <a:rPr lang="en-US" sz="1200" dirty="0"/>
              <a:t> –t </a:t>
            </a:r>
            <a:r>
              <a:rPr lang="en-US" sz="1200" dirty="0" err="1"/>
              <a:t>osimage</a:t>
            </a:r>
            <a:r>
              <a:rPr lang="en-US" sz="1200" dirty="0"/>
              <a:t> alma9.5-x86_64-netboot-compute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Assign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to the node to be installed: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nodeset</a:t>
            </a:r>
            <a:r>
              <a:rPr lang="en-US" sz="1200" dirty="0"/>
              <a:t> gpu-a100-01 </a:t>
            </a:r>
            <a:r>
              <a:rPr lang="en-US" sz="1200" dirty="0" err="1"/>
              <a:t>osimage</a:t>
            </a:r>
            <a:r>
              <a:rPr lang="en-US" sz="1200" dirty="0"/>
              <a:t>=alma9.5-x86_64-netboot-compute</a:t>
            </a:r>
          </a:p>
          <a:p>
            <a:pPr marL="114300" indent="0"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21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DHCP &amp; DNS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2FF1E6-A8DB-151C-2FA2-C992178EF63B}"/>
              </a:ext>
            </a:extLst>
          </p:cNvPr>
          <p:cNvSpPr txBox="1">
            <a:spLocks/>
          </p:cNvSpPr>
          <p:nvPr/>
        </p:nvSpPr>
        <p:spPr>
          <a:xfrm>
            <a:off x="124568" y="2112004"/>
            <a:ext cx="8867032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DHCP Service - 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etc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dhcpd.conf</a:t>
            </a:r>
            <a:endParaRPr lang="en-US" sz="1400" dirty="0"/>
          </a:p>
          <a:p>
            <a:pPr marL="114300" indent="0">
              <a:buNone/>
            </a:pPr>
            <a:r>
              <a:rPr lang="en-US" sz="1200" dirty="0"/>
              <a:t>&gt; Create new </a:t>
            </a:r>
            <a:r>
              <a:rPr lang="en-US" sz="1200" dirty="0" err="1"/>
              <a:t>dhcpd.conf</a:t>
            </a:r>
            <a:r>
              <a:rPr lang="en-US" sz="1200" dirty="0"/>
              <a:t> file: </a:t>
            </a:r>
            <a:r>
              <a:rPr lang="en-US" sz="1200" dirty="0" err="1"/>
              <a:t>makedhcp</a:t>
            </a:r>
            <a:r>
              <a:rPr lang="en-US" sz="1200" dirty="0"/>
              <a:t> –n (run this once)</a:t>
            </a:r>
          </a:p>
          <a:p>
            <a:pPr marL="114300" indent="0">
              <a:buNone/>
            </a:pPr>
            <a:r>
              <a:rPr lang="en-US" sz="1200" dirty="0"/>
              <a:t>&gt; Add new node to </a:t>
            </a:r>
            <a:r>
              <a:rPr lang="en-US" sz="1200" dirty="0" err="1"/>
              <a:t>dhcp</a:t>
            </a:r>
            <a:r>
              <a:rPr lang="en-US" sz="1200" dirty="0"/>
              <a:t>: </a:t>
            </a:r>
            <a:r>
              <a:rPr lang="en-US" sz="1200" dirty="0" err="1"/>
              <a:t>makedhcp</a:t>
            </a:r>
            <a:r>
              <a:rPr lang="en-US" sz="1200" dirty="0"/>
              <a:t> –a </a:t>
            </a:r>
            <a:r>
              <a:rPr lang="en-US" sz="1200" dirty="0" err="1"/>
              <a:t>nodename</a:t>
            </a:r>
            <a:endParaRPr lang="en-US" sz="1200" dirty="0"/>
          </a:p>
          <a:p>
            <a:pPr marL="114300" indent="0">
              <a:buNone/>
            </a:pP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&gt; Command to query node with DHCP: </a:t>
            </a:r>
            <a:r>
              <a:rPr lang="en-US" sz="1200" dirty="0" err="1"/>
              <a:t>makedhcp</a:t>
            </a:r>
            <a:r>
              <a:rPr lang="en-US" sz="1200" dirty="0"/>
              <a:t> –q gpu-a100-01</a:t>
            </a:r>
          </a:p>
          <a:p>
            <a:pPr marL="114300" indent="0">
              <a:buNone/>
            </a:pPr>
            <a:r>
              <a:rPr lang="en-US" sz="1200" dirty="0"/>
              <a:t>[root@hpcxcat dhcp]# makedhcp -q gpu-a100-01</a:t>
            </a:r>
          </a:p>
          <a:p>
            <a:pPr marL="114300" indent="0">
              <a:buNone/>
            </a:pPr>
            <a:r>
              <a:rPr lang="en-US" sz="1200" dirty="0"/>
              <a:t>gpu-a100-01: </a:t>
            </a:r>
            <a:r>
              <a:rPr lang="en-US" sz="1200" dirty="0" err="1"/>
              <a:t>ip</a:t>
            </a:r>
            <a:r>
              <a:rPr lang="en-US" sz="1200" dirty="0"/>
              <a:t>-address = 192.168.246.37, hardware-address = d4:04:e6:06:04:ac</a:t>
            </a:r>
          </a:p>
          <a:p>
            <a:pPr marL="114300" indent="0">
              <a:buNone/>
            </a:pPr>
            <a:r>
              <a:rPr lang="en-US" sz="1200" dirty="0"/>
              <a:t>    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DNS Service: /var/named</a:t>
            </a:r>
          </a:p>
          <a:p>
            <a:pPr marL="114300" indent="0">
              <a:buNone/>
            </a:pPr>
            <a:r>
              <a:rPr lang="en-US" sz="1200" dirty="0"/>
              <a:t>&gt; Create new DNS for all the nodes: </a:t>
            </a:r>
            <a:r>
              <a:rPr lang="en-US" sz="1200" dirty="0" err="1"/>
              <a:t>makedns</a:t>
            </a:r>
            <a:r>
              <a:rPr lang="en-US" sz="1200" dirty="0"/>
              <a:t> –n (run this once)</a:t>
            </a:r>
          </a:p>
          <a:p>
            <a:pPr marL="114300" indent="0">
              <a:buNone/>
            </a:pPr>
            <a:r>
              <a:rPr lang="en-US" sz="1200" dirty="0"/>
              <a:t>&gt; Add new node to DNS: </a:t>
            </a:r>
            <a:r>
              <a:rPr lang="en-US" sz="1200" dirty="0" err="1"/>
              <a:t>makedns</a:t>
            </a:r>
            <a:r>
              <a:rPr lang="en-US" sz="1200" dirty="0"/>
              <a:t> </a:t>
            </a:r>
            <a:r>
              <a:rPr lang="en-US" sz="1200" dirty="0" err="1"/>
              <a:t>nodename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&gt; Make host file from DNS: </a:t>
            </a:r>
            <a:r>
              <a:rPr lang="en-US" sz="1200" dirty="0" err="1"/>
              <a:t>makehosts</a:t>
            </a:r>
            <a:endParaRPr lang="en-US" sz="12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200" dirty="0"/>
              <a:t>&gt; Check output in /</a:t>
            </a:r>
            <a:r>
              <a:rPr lang="en-US" sz="1200" dirty="0" err="1"/>
              <a:t>etc</a:t>
            </a:r>
            <a:r>
              <a:rPr lang="en-US" sz="1200" dirty="0"/>
              <a:t>/hosts file</a:t>
            </a:r>
          </a:p>
          <a:p>
            <a:pPr marL="114300" indent="0">
              <a:buNone/>
            </a:pPr>
            <a:r>
              <a:rPr lang="en-US" sz="1200" dirty="0"/>
              <a:t>[root@hpcxcat dhcp]# more /etc/hosts |grep gpu-a100-01</a:t>
            </a:r>
          </a:p>
          <a:p>
            <a:pPr marL="114300" indent="0">
              <a:buNone/>
            </a:pPr>
            <a:r>
              <a:rPr lang="en-US" sz="1200" dirty="0"/>
              <a:t>192.168.254.55 r-a100-01 r-a100-01.roary.net </a:t>
            </a:r>
          </a:p>
          <a:p>
            <a:pPr marL="114300" indent="0">
              <a:buNone/>
            </a:pPr>
            <a:r>
              <a:rPr lang="en-US" sz="1200" dirty="0"/>
              <a:t>192.168.246.37 gpu-a100-01 gpu-a100-01.roary.net</a:t>
            </a:r>
          </a:p>
          <a:p>
            <a:pPr marL="114300" indent="0">
              <a:buNone/>
            </a:pPr>
            <a:r>
              <a:rPr lang="en-US" sz="1200" dirty="0"/>
              <a:t>[root@hpcxcat dhcp]# more /etc/hosts |grep node07</a:t>
            </a:r>
          </a:p>
          <a:p>
            <a:pPr marL="114300" indent="0">
              <a:buNone/>
            </a:pPr>
            <a:r>
              <a:rPr lang="en-US" sz="1200" dirty="0"/>
              <a:t>192.168.233.37 gpu-a100-01 gpu-a100-01.roary.net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1DD88-26DE-3D0E-F015-1F44335D5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981200"/>
            <a:ext cx="3818556" cy="1711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C127D-04F8-3989-ABFB-A9AB589C5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3831155"/>
            <a:ext cx="2895600" cy="291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41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Create repository for additional packages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under /install/post/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otherpkgs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228600" y="1888372"/>
            <a:ext cx="8686800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Any additional packages not included on the AlmaLinux7 ISO Image can be added under a repository -  /install/post/otherpkgs/alma9.5/x86_64 and it can be rebuilt as it gets updated with new RPMs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The list of  additional RPM packages to install is maintained under:</a:t>
            </a:r>
          </a:p>
          <a:p>
            <a:pPr marL="114300" indent="0">
              <a:buNone/>
            </a:pP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/install/custom/netboot/alma/compute.alma9.x86_64.otherpkgs.pkglist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Copy all the RPMS in /install/post/otherpkgs/alma9.5/x86_64 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Create initial repository 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- run this only once to 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createrepo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 the first time</a:t>
            </a:r>
          </a:p>
          <a:p>
            <a:pPr marL="114300" indent="0">
              <a:buNone/>
            </a:pPr>
            <a:r>
              <a:rPr lang="en-US" sz="1200" dirty="0"/>
              <a:t>&gt; Createrepo /install/post/otherpkgs/alma9.5/x86_64/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Update repository 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- any additional rpms, use “update” with the 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createrepo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 command</a:t>
            </a:r>
          </a:p>
          <a:p>
            <a:pPr marL="114300" indent="0">
              <a:buNone/>
            </a:pPr>
            <a:r>
              <a:rPr lang="en-US" sz="1200" dirty="0"/>
              <a:t>&gt; createrepo --update -v /install/post/otherpkgs/alma9.5/x86_64/</a:t>
            </a:r>
          </a:p>
          <a:p>
            <a:pPr marL="114300" indent="0">
              <a:buNone/>
            </a:pPr>
            <a:r>
              <a:rPr lang="en-US" sz="1200" u="sng" dirty="0"/>
              <a:t>If using comps.xml (for IB Mellanox Driver)</a:t>
            </a:r>
          </a:p>
          <a:p>
            <a:pPr marL="114300" indent="0">
              <a:buNone/>
            </a:pPr>
            <a:r>
              <a:rPr lang="en-US" sz="1200" dirty="0"/>
              <a:t>Rebuild repo: createrepo --update -v -g comps.xml /install/post/otherpkgs/alma9.5/x86_64/</a:t>
            </a:r>
          </a:p>
          <a:p>
            <a:pPr marL="285750" indent="-1714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Generate new image with the new additional RPMs and pack Image for 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</a:rPr>
              <a:t>diskless install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genimage</a:t>
            </a:r>
            <a:r>
              <a:rPr lang="en-US" sz="1200" dirty="0"/>
              <a:t> alma9.5-x86_64-netboot-compute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packimage</a:t>
            </a:r>
            <a:r>
              <a:rPr lang="en-US" sz="1200" dirty="0"/>
              <a:t> alma9.5-x86_64-netboot-compute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BD335-20CB-CEBE-4628-D13300E96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303" y="5156862"/>
            <a:ext cx="4876799" cy="786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E9CCF-468B-00F7-324C-2C834C5D0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758" y="6000688"/>
            <a:ext cx="4876799" cy="7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77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Diskless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</a:t>
            </a:r>
            <a:r>
              <a:rPr lang="en-US" sz="36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RAMdisk</a:t>
            </a:r>
            <a:r>
              <a:rPr lang="en-US" sz="3600" b="0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-based)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228600" y="1888372"/>
            <a:ext cx="8686800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Create image from ISO file with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copycds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command under /install/alma9.5: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&gt; </a:t>
            </a:r>
            <a:r>
              <a:rPr lang="en-US" sz="1400" dirty="0" err="1"/>
              <a:t>copycds</a:t>
            </a:r>
            <a:r>
              <a:rPr lang="en-US" sz="1400" dirty="0"/>
              <a:t> -n alma9.5 -a x86_64 AlmaLinux-9.5-x86_64-dvd.iso</a:t>
            </a:r>
          </a:p>
          <a:p>
            <a:pPr marL="114300" indent="0"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After executing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copycds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, these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definitions are created by default:</a:t>
            </a:r>
          </a:p>
          <a:p>
            <a:pPr marL="0" indent="0" algn="l">
              <a:buNone/>
            </a:pPr>
            <a:r>
              <a:rPr lang="en-US" sz="1400" dirty="0"/>
              <a:t>alma9.5-x86_64-install-compute is the default osimage definition used for diskful installation</a:t>
            </a:r>
          </a:p>
          <a:p>
            <a:pPr marL="0" indent="0" algn="l">
              <a:buNone/>
            </a:pPr>
            <a:r>
              <a:rPr lang="en-US" sz="1400" dirty="0"/>
              <a:t>alma9.5-x86_64-netboot-compute is the default osimage definition used for diskless installation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Generate Diskless Image under /install/netboot/alma9.5/x86_64/compute</a:t>
            </a:r>
          </a:p>
          <a:p>
            <a:pPr marL="114300" indent="0">
              <a:buNone/>
            </a:pPr>
            <a:r>
              <a:rPr lang="en-US" sz="1400" dirty="0"/>
              <a:t>&gt; </a:t>
            </a:r>
            <a:r>
              <a:rPr lang="en-US" sz="1400" dirty="0" err="1"/>
              <a:t>genimage</a:t>
            </a:r>
            <a:r>
              <a:rPr lang="en-US" sz="1400" dirty="0"/>
              <a:t> alma9.5-x86_64-netboot-compute</a:t>
            </a:r>
          </a:p>
          <a:p>
            <a:pPr marL="114300" indent="0">
              <a:buNone/>
            </a:pPr>
            <a:r>
              <a:rPr lang="en-US" sz="1400" dirty="0"/>
              <a:t>&gt; </a:t>
            </a:r>
            <a:r>
              <a:rPr lang="en-US" sz="1400" dirty="0" err="1"/>
              <a:t>Rootimg</a:t>
            </a:r>
            <a:r>
              <a:rPr lang="en-US" sz="1400" dirty="0"/>
              <a:t> accessible can be modified before packing it with command: chroot </a:t>
            </a:r>
            <a:r>
              <a:rPr lang="en-US" sz="1400" dirty="0" err="1"/>
              <a:t>rootimg</a:t>
            </a:r>
            <a:endParaRPr lang="en-US" sz="14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Pack Diskless Image from chroot FS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400" dirty="0" err="1"/>
              <a:t>packimage</a:t>
            </a:r>
            <a:r>
              <a:rPr lang="en-US" sz="1400" dirty="0"/>
              <a:t> alma9.5-x86_64-netboot-compute</a:t>
            </a:r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C343D-C0EC-0572-8BF3-79C2CC560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198" y="4630047"/>
            <a:ext cx="5478202" cy="19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7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Preparing new compute node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for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provisioning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78486" y="1888372"/>
            <a:ext cx="8989314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Configure DRAC/ILO on the new node:</a:t>
            </a:r>
          </a:p>
          <a:p>
            <a:pPr marL="514350" lvl="1" indent="0">
              <a:buNone/>
            </a:pPr>
            <a:r>
              <a:rPr lang="en-US" sz="1500" dirty="0"/>
              <a:t>-Assign an IP address from the DRAC/ILO MGMT VLAN 421: 192.168.254.xx</a:t>
            </a:r>
          </a:p>
          <a:p>
            <a:pPr marL="514350" lvl="1" indent="0">
              <a:buNone/>
            </a:pPr>
            <a:r>
              <a:rPr lang="en-US" sz="1500" dirty="0"/>
              <a:t>-Configure DRAC/ILO network interface with this IP and take note of the MAC address</a:t>
            </a:r>
          </a:p>
          <a:p>
            <a:pPr marL="514350" lvl="1" indent="0">
              <a:buNone/>
            </a:pPr>
            <a:r>
              <a:rPr lang="en-US" sz="1500" dirty="0"/>
              <a:t>-Enable IPMI over LAN (as Administrator)</a:t>
            </a:r>
          </a:p>
          <a:p>
            <a:pPr marL="514350" lvl="1" indent="0">
              <a:buNone/>
            </a:pPr>
            <a:r>
              <a:rPr lang="en-US" sz="1500" dirty="0"/>
              <a:t>-Create and enable user as Administrator: “</a:t>
            </a:r>
            <a:r>
              <a:rPr lang="en-US" sz="1500" dirty="0" err="1"/>
              <a:t>adminuser</a:t>
            </a:r>
            <a:r>
              <a:rPr lang="en-US" sz="1500" dirty="0"/>
              <a:t>” and match password defined in </a:t>
            </a:r>
            <a:r>
              <a:rPr lang="en-US" sz="1500" dirty="0" err="1"/>
              <a:t>xCAT</a:t>
            </a:r>
            <a:r>
              <a:rPr lang="en-US" sz="1500" dirty="0"/>
              <a:t> passwd table for the IPMI user</a:t>
            </a:r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Capture all Network interfaces  to be used and their MAC addresses from DRAC/ILO GUI:</a:t>
            </a:r>
          </a:p>
          <a:p>
            <a:pPr marL="514350" lvl="1" indent="0">
              <a:buNone/>
            </a:pPr>
            <a:r>
              <a:rPr lang="en-US" sz="1500" dirty="0"/>
              <a:t>This includes at least 2 set of MACs in addition to the DRAC interface which will be assigned for:</a:t>
            </a:r>
          </a:p>
          <a:p>
            <a:pPr marL="514350" lvl="1" indent="0">
              <a:buNone/>
            </a:pPr>
            <a:r>
              <a:rPr lang="en-US" sz="1500" dirty="0"/>
              <a:t>-MGMT VLAN 421: 192.168.246.xx</a:t>
            </a:r>
          </a:p>
          <a:p>
            <a:pPr marL="514350" lvl="1" indent="0">
              <a:buNone/>
            </a:pPr>
            <a:r>
              <a:rPr lang="en-US" sz="1500" dirty="0"/>
              <a:t>-Data VLAN 418: 192.168.233.xx</a:t>
            </a:r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Assign IP addresses for each of this network interfaces</a:t>
            </a:r>
          </a:p>
          <a:p>
            <a:pPr marL="514350" lvl="1" indent="0">
              <a:buNone/>
            </a:pPr>
            <a:r>
              <a:rPr lang="en-US" sz="1500" dirty="0"/>
              <a:t>Assign free IPs for the 3 interfaces in the :</a:t>
            </a:r>
          </a:p>
          <a:p>
            <a:pPr marL="514350" lvl="1" indent="0">
              <a:buNone/>
            </a:pPr>
            <a:r>
              <a:rPr lang="en-US" sz="1500" dirty="0"/>
              <a:t>-DRAC/ILO interface MGMT VLAN 421: 192.168.254.xx</a:t>
            </a:r>
          </a:p>
          <a:p>
            <a:pPr marL="514350" lvl="1" indent="0">
              <a:buNone/>
            </a:pPr>
            <a:r>
              <a:rPr lang="en-US" sz="1500" dirty="0"/>
              <a:t>-MGMT VLAN 421: 192.168.246.xx</a:t>
            </a:r>
          </a:p>
          <a:p>
            <a:pPr marL="514350" lvl="1" indent="0">
              <a:buNone/>
            </a:pPr>
            <a:r>
              <a:rPr lang="en-US" sz="1500" dirty="0"/>
              <a:t>-Data VLAN 418: 192.168.233.xx</a:t>
            </a:r>
          </a:p>
          <a:p>
            <a:pPr marL="514350" lvl="1" indent="0">
              <a:buNone/>
            </a:pPr>
            <a:r>
              <a:rPr lang="en-US" sz="1700" dirty="0"/>
              <a:t>Update information in the Excel sheet (fiu_hpc_detailsv10) on OneDrive</a:t>
            </a:r>
            <a:endParaRPr lang="en-US" sz="1400" dirty="0"/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Define the new node names with IPs assigned to be added in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for host and DNS Configuration:</a:t>
            </a:r>
          </a:p>
          <a:p>
            <a:pPr marL="514350" lvl="1" indent="0">
              <a:buNone/>
            </a:pPr>
            <a:r>
              <a:rPr lang="en-US" sz="1500" dirty="0"/>
              <a:t>Follow this naming convention:</a:t>
            </a:r>
          </a:p>
          <a:p>
            <a:pPr marL="514350" lvl="1" indent="0">
              <a:buNone/>
            </a:pPr>
            <a:r>
              <a:rPr lang="en-US" sz="1500" dirty="0"/>
              <a:t>-DRAC/ILO interface used for BMC: </a:t>
            </a:r>
            <a:r>
              <a:rPr lang="en-US" sz="1500" dirty="0" err="1"/>
              <a:t>rxxx</a:t>
            </a:r>
            <a:r>
              <a:rPr lang="en-US" sz="1500" dirty="0"/>
              <a:t> – like r126, r-a100-01, rv003</a:t>
            </a:r>
          </a:p>
          <a:p>
            <a:pPr marL="514350" lvl="1" indent="0">
              <a:buNone/>
            </a:pPr>
            <a:r>
              <a:rPr lang="en-US" sz="1500" dirty="0"/>
              <a:t>-MGMT Interface: </a:t>
            </a:r>
            <a:r>
              <a:rPr lang="en-US" sz="1500" dirty="0" err="1"/>
              <a:t>nxxx</a:t>
            </a:r>
            <a:r>
              <a:rPr lang="en-US" sz="1500" dirty="0"/>
              <a:t> or </a:t>
            </a:r>
            <a:r>
              <a:rPr lang="en-US" sz="1500" dirty="0" err="1"/>
              <a:t>gxxx</a:t>
            </a:r>
            <a:r>
              <a:rPr lang="en-US" sz="1500" dirty="0"/>
              <a:t> or </a:t>
            </a:r>
            <a:r>
              <a:rPr lang="en-US" sz="1500" dirty="0" err="1"/>
              <a:t>vxxx</a:t>
            </a:r>
            <a:r>
              <a:rPr lang="en-US" sz="1500" dirty="0"/>
              <a:t> – like n125, gpu-a100-01, v003</a:t>
            </a:r>
          </a:p>
          <a:p>
            <a:pPr marL="514350" lvl="1" indent="0">
              <a:buNone/>
            </a:pPr>
            <a:r>
              <a:rPr lang="en-US" sz="1500" dirty="0"/>
              <a:t>-Data Interface: </a:t>
            </a:r>
            <a:r>
              <a:rPr lang="en-US" sz="1500" dirty="0" err="1"/>
              <a:t>hpcnodexxx</a:t>
            </a:r>
            <a:r>
              <a:rPr lang="en-US" sz="1500" dirty="0"/>
              <a:t> – like n126, gpu-a100-01, v003 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39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Adding new compute node/group definitions in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531913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node/group object definitions:</a:t>
            </a:r>
          </a:p>
          <a:p>
            <a:pPr marL="114300" indent="0">
              <a:buNone/>
            </a:pPr>
            <a:r>
              <a:rPr lang="en-US" sz="1200" dirty="0" err="1"/>
              <a:t>nodeadd</a:t>
            </a:r>
            <a:r>
              <a:rPr lang="en-US" sz="1200" dirty="0"/>
              <a:t> gpu-a100-01 groups=raptor,alma9</a:t>
            </a:r>
          </a:p>
          <a:p>
            <a:pPr marL="114300" indent="0">
              <a:buNone/>
            </a:pPr>
            <a:r>
              <a:rPr lang="en-US" sz="1200" dirty="0" err="1"/>
              <a:t>nodeadd gpu-a100-01 groups=raptor | nodeadd n126 groups=dell | nodeadd v003 groups=viz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 err="1"/>
              <a:t>nodeadd r-a100-01 groups=mgt | nodeadd r126 groups=mgmt | nodeadd rv003 groups=vizmgt</a:t>
            </a:r>
            <a:endParaRPr lang="en-US" sz="12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additional node attributes: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–t node gpu-a100-01 mac=d4:04:e6:06:04:ac </a:t>
            </a:r>
            <a:r>
              <a:rPr lang="en-US" sz="1200" dirty="0" err="1"/>
              <a:t>ip</a:t>
            </a:r>
            <a:r>
              <a:rPr lang="en-US" sz="1200" dirty="0"/>
              <a:t>=192.168.246.37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–t node gpu-a100-01 </a:t>
            </a:r>
            <a:r>
              <a:rPr lang="en-US" sz="1200" dirty="0" err="1"/>
              <a:t>ip</a:t>
            </a:r>
            <a:r>
              <a:rPr lang="en-US" sz="1200" dirty="0"/>
              <a:t>=192.168.233.37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–t node r-a100-01 </a:t>
            </a:r>
            <a:r>
              <a:rPr lang="en-US" sz="1200" dirty="0" err="1"/>
              <a:t>ip</a:t>
            </a:r>
            <a:r>
              <a:rPr lang="en-US" sz="1200" dirty="0"/>
              <a:t>=192.168.254.55</a:t>
            </a:r>
          </a:p>
          <a:p>
            <a:pPr marL="114300" indent="0">
              <a:buNone/>
            </a:pPr>
            <a:r>
              <a:rPr lang="en-US" sz="1200" dirty="0" err="1"/>
              <a:t>chdef -t node gpu-a100-01 netboot=xnba installnic=d4:04:e6:06:04:ac</a:t>
            </a:r>
          </a:p>
          <a:p>
            <a:pPr marL="114300" indent="0">
              <a:buNone/>
            </a:pPr>
            <a:r>
              <a:rPr lang="en-US" sz="1200" dirty="0" err="1"/>
              <a:t>chdef -t node gpu-a100-01 os=alma9.5 arch=x86_64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-t node gpu-a100-01 </a:t>
            </a:r>
            <a:r>
              <a:rPr lang="en-US" sz="1200" dirty="0" err="1"/>
              <a:t>addkcmdline</a:t>
            </a:r>
            <a:r>
              <a:rPr lang="en-US" sz="1200" dirty="0"/>
              <a:t>=“</a:t>
            </a:r>
            <a:r>
              <a:rPr lang="pt-BR" sz="1200" dirty="0" err="1"/>
              <a:t>ifname</a:t>
            </a:r>
            <a:r>
              <a:rPr lang="pt-BR" sz="1200" dirty="0"/>
              <a:t>=em3:F8:BC:12:20:16:00</a:t>
            </a:r>
            <a:r>
              <a:rPr lang="en-US" sz="1200" dirty="0"/>
              <a:t>”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-t node raptor postscripts=“roary-primary-nic,roary-othernics-alma9,roary-ldap,roary-nouserlogin,roary-resolv-alma9,roary-yumrepo-alma9,roary-rpms-alma9,roary-setuplustre,roary-mlnx-ofed,roary-gpucuda,roary-slurm-alma9-current”</a:t>
            </a:r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120C93-6B23-3EDB-8DE4-48D70D72F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05912"/>
              </p:ext>
            </p:extLst>
          </p:nvPr>
        </p:nvGraphicFramePr>
        <p:xfrm>
          <a:off x="5867400" y="1981200"/>
          <a:ext cx="2352226" cy="1905000"/>
        </p:xfrm>
        <a:graphic>
          <a:graphicData uri="http://schemas.openxmlformats.org/drawingml/2006/table">
            <a:tbl>
              <a:tblPr/>
              <a:tblGrid>
                <a:gridCol w="877102">
                  <a:extLst>
                    <a:ext uri="{9D8B030D-6E8A-4147-A177-3AD203B41FA5}">
                      <a16:colId xmlns:a16="http://schemas.microsoft.com/office/drawing/2014/main" val="99049046"/>
                    </a:ext>
                  </a:extLst>
                </a:gridCol>
                <a:gridCol w="1475124">
                  <a:extLst>
                    <a:ext uri="{9D8B030D-6E8A-4147-A177-3AD203B41FA5}">
                      <a16:colId xmlns:a16="http://schemas.microsoft.com/office/drawing/2014/main" val="197053373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42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545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n003,n006-n012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597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n095-n102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4313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n126-n127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052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n128-n133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7216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gpu-a100-01..07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3512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g009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7931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0566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9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142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Update DHCP &amp; DNS with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new compute node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531913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114300" indent="0">
              <a:buNone/>
            </a:pPr>
            <a:r>
              <a:rPr lang="en-US" sz="1200" dirty="0" err="1"/>
              <a:t>makedhcp</a:t>
            </a:r>
            <a:r>
              <a:rPr lang="en-US" sz="1200" dirty="0"/>
              <a:t> –a gpu-a100-01 | </a:t>
            </a:r>
            <a:r>
              <a:rPr lang="en-US" sz="1200" dirty="0" err="1"/>
              <a:t>makedhcp</a:t>
            </a:r>
            <a:r>
              <a:rPr lang="en-US" sz="1200" dirty="0"/>
              <a:t> –a r-a100-01 | </a:t>
            </a:r>
            <a:r>
              <a:rPr lang="en-US" sz="1200" dirty="0" err="1"/>
              <a:t>makedhcp</a:t>
            </a:r>
            <a:r>
              <a:rPr lang="en-US" sz="1200" dirty="0"/>
              <a:t> –a gpu-a100-01</a:t>
            </a:r>
          </a:p>
          <a:p>
            <a:pPr marL="114300" indent="0">
              <a:buNone/>
            </a:pPr>
            <a:r>
              <a:rPr lang="en-US" sz="1200" dirty="0" err="1"/>
              <a:t>makedhcp</a:t>
            </a:r>
            <a:r>
              <a:rPr lang="en-US" sz="1200" dirty="0"/>
              <a:t> –a n125 | </a:t>
            </a:r>
            <a:r>
              <a:rPr lang="en-US" sz="1200" dirty="0" err="1"/>
              <a:t>makedhcp</a:t>
            </a:r>
            <a:r>
              <a:rPr lang="en-US" sz="1200" dirty="0"/>
              <a:t> –a n126 | </a:t>
            </a:r>
            <a:r>
              <a:rPr lang="en-US" sz="1200" dirty="0" err="1"/>
              <a:t>makedhcp</a:t>
            </a:r>
            <a:r>
              <a:rPr lang="en-US" sz="1200" dirty="0"/>
              <a:t> –a r126</a:t>
            </a:r>
          </a:p>
          <a:p>
            <a:pPr marL="114300" indent="0">
              <a:buNone/>
            </a:pPr>
            <a:r>
              <a:rPr lang="en-US" sz="1200" dirty="0"/>
              <a:t>To Query:</a:t>
            </a:r>
          </a:p>
          <a:p>
            <a:pPr marL="114300" indent="0">
              <a:buNone/>
            </a:pPr>
            <a:r>
              <a:rPr lang="en-US" sz="1200" dirty="0" err="1"/>
              <a:t>makedhcp</a:t>
            </a:r>
            <a:r>
              <a:rPr lang="en-US" sz="1200" dirty="0"/>
              <a:t> –q gpu-a100-01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DNS to update 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etc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/hosts file:</a:t>
            </a:r>
          </a:p>
          <a:p>
            <a:pPr marL="114300" indent="0">
              <a:buNone/>
            </a:pPr>
            <a:r>
              <a:rPr lang="en-US" sz="1200" dirty="0" err="1"/>
              <a:t>makedns</a:t>
            </a:r>
            <a:r>
              <a:rPr lang="en-US" sz="1200" dirty="0"/>
              <a:t> –a gpu-a100-01</a:t>
            </a:r>
          </a:p>
          <a:p>
            <a:pPr marL="114300" indent="0">
              <a:buNone/>
            </a:pPr>
            <a:r>
              <a:rPr lang="en-US" sz="1200" dirty="0" err="1"/>
              <a:t>makedns</a:t>
            </a:r>
            <a:r>
              <a:rPr lang="en-US" sz="1200" dirty="0"/>
              <a:t> –a r-a100-01</a:t>
            </a:r>
          </a:p>
          <a:p>
            <a:pPr marL="114300" indent="0">
              <a:buNone/>
            </a:pPr>
            <a:r>
              <a:rPr lang="en-US" sz="1200" dirty="0" err="1"/>
              <a:t>makedns</a:t>
            </a:r>
            <a:r>
              <a:rPr lang="en-US" sz="1200" dirty="0"/>
              <a:t> –a gpu-a100-01</a:t>
            </a:r>
          </a:p>
          <a:p>
            <a:pPr marL="114300" indent="0">
              <a:buNone/>
            </a:pPr>
            <a:r>
              <a:rPr lang="en-US" sz="1200" dirty="0" err="1"/>
              <a:t>makehosts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5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Set the boot state for the node/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noderange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42393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List current definition command:</a:t>
            </a:r>
          </a:p>
          <a:p>
            <a:pPr marL="114300" indent="0">
              <a:buNone/>
            </a:pPr>
            <a:r>
              <a:rPr lang="en-US" sz="1200" dirty="0" err="1"/>
              <a:t>lsdef</a:t>
            </a:r>
            <a:r>
              <a:rPr lang="en-US" sz="1200" dirty="0"/>
              <a:t> gpu-a100-01</a:t>
            </a:r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230DC-7082-9615-9BFD-537827E5A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20" y="2438400"/>
            <a:ext cx="4055598" cy="2819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C76122-95D5-D8F0-7B70-51076B614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99" y="3819579"/>
            <a:ext cx="4708617" cy="265742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268D60-3C51-6DFE-BDE7-6B79F6AE3EFD}"/>
              </a:ext>
            </a:extLst>
          </p:cNvPr>
          <p:cNvSpPr txBox="1">
            <a:spLocks/>
          </p:cNvSpPr>
          <p:nvPr/>
        </p:nvSpPr>
        <p:spPr>
          <a:xfrm>
            <a:off x="4306177" y="1898139"/>
            <a:ext cx="4685424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Set the boot state for the node with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nodeset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command:</a:t>
            </a:r>
          </a:p>
          <a:p>
            <a:pPr marL="114300" indent="0">
              <a:buNone/>
            </a:pPr>
            <a:r>
              <a:rPr lang="en-US" sz="1200" dirty="0" err="1"/>
              <a:t>nodeset</a:t>
            </a:r>
            <a:r>
              <a:rPr lang="en-US" sz="1200" dirty="0"/>
              <a:t> gpu-a100-01 </a:t>
            </a:r>
            <a:r>
              <a:rPr lang="en-US" sz="1200" dirty="0" err="1"/>
              <a:t>osimage</a:t>
            </a:r>
            <a:r>
              <a:rPr lang="en-US" sz="1200" dirty="0"/>
              <a:t>= alma9.5-x86_64-netboot-compute</a:t>
            </a:r>
          </a:p>
          <a:p>
            <a:pPr marL="114300" indent="0">
              <a:buNone/>
            </a:pPr>
            <a:r>
              <a:rPr lang="en-US" sz="1200" dirty="0" err="1"/>
              <a:t>rpower</a:t>
            </a:r>
            <a:r>
              <a:rPr lang="en-US" sz="1200" dirty="0"/>
              <a:t> gpu-a100-01 stat</a:t>
            </a:r>
          </a:p>
          <a:p>
            <a:pPr marL="114300" indent="0">
              <a:buNone/>
            </a:pPr>
            <a:r>
              <a:rPr lang="en-US" sz="1200" dirty="0" err="1"/>
              <a:t>rpower</a:t>
            </a:r>
            <a:r>
              <a:rPr lang="en-US" sz="1200" dirty="0"/>
              <a:t> gpu-a100-01 reset</a:t>
            </a:r>
          </a:p>
          <a:p>
            <a:pPr marL="114300" indent="0">
              <a:buNone/>
            </a:pPr>
            <a:endParaRPr lang="en-US" sz="1200" i="0" u="sng" dirty="0">
              <a:effectLst/>
            </a:endParaRPr>
          </a:p>
          <a:p>
            <a:pPr marL="114300" indent="0">
              <a:buNone/>
            </a:pPr>
            <a:r>
              <a:rPr lang="en-US" sz="1200" i="0" u="sng" dirty="0">
                <a:effectLst/>
              </a:rPr>
              <a:t>Note:</a:t>
            </a:r>
            <a:r>
              <a:rPr lang="en-US" sz="1200" i="0" dirty="0">
                <a:effectLst/>
              </a:rPr>
              <a:t> </a:t>
            </a:r>
          </a:p>
          <a:p>
            <a:pPr marL="114300" indent="0">
              <a:buNone/>
            </a:pPr>
            <a:r>
              <a:rPr lang="en-US" sz="1200" i="0" dirty="0" err="1">
                <a:effectLst/>
              </a:rPr>
              <a:t>nodeset</a:t>
            </a:r>
            <a:r>
              <a:rPr lang="en-US" sz="1200" i="0" dirty="0">
                <a:effectLst/>
              </a:rPr>
              <a:t> for </a:t>
            </a:r>
            <a:r>
              <a:rPr lang="en-US" sz="1200" i="0" dirty="0" err="1">
                <a:effectLst/>
              </a:rPr>
              <a:t>pxe</a:t>
            </a:r>
            <a:r>
              <a:rPr lang="en-US" sz="1200" i="0" dirty="0">
                <a:effectLst/>
              </a:rPr>
              <a:t> makes changes to /</a:t>
            </a:r>
            <a:r>
              <a:rPr lang="en-US" sz="1200" i="0" dirty="0" err="1">
                <a:effectLst/>
              </a:rPr>
              <a:t>tftpboot</a:t>
            </a:r>
            <a:r>
              <a:rPr lang="en-US" sz="1200" i="0" dirty="0">
                <a:effectLst/>
              </a:rPr>
              <a:t>/</a:t>
            </a:r>
            <a:r>
              <a:rPr lang="en-US" sz="1200" i="0" dirty="0" err="1">
                <a:effectLst/>
              </a:rPr>
              <a:t>pxelinux.cfg</a:t>
            </a:r>
            <a:r>
              <a:rPr lang="en-US" sz="1200" i="0" dirty="0">
                <a:effectLst/>
              </a:rPr>
              <a:t>/{node hex </a:t>
            </a:r>
            <a:r>
              <a:rPr lang="en-US" sz="1200" i="0" dirty="0" err="1">
                <a:effectLst/>
              </a:rPr>
              <a:t>ip</a:t>
            </a:r>
            <a:r>
              <a:rPr lang="en-US" sz="1200" i="0" dirty="0">
                <a:effectLst/>
              </a:rPr>
              <a:t>}</a:t>
            </a:r>
          </a:p>
          <a:p>
            <a:pPr marL="114300" indent="0">
              <a:buNone/>
            </a:pPr>
            <a:endParaRPr lang="en-US" sz="1200" dirty="0"/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54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Node Installation Process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27D08F-734D-64B4-EB50-62797C9AF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11" y="1970611"/>
            <a:ext cx="6735115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50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Parallel Commands from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Management node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64491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provides a set of commands that can run common remote commands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xdsh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- Concurrently runs remote commands on multiple nodes:</a:t>
            </a:r>
          </a:p>
          <a:p>
            <a:pPr marL="114300" indent="0">
              <a:buNone/>
            </a:pPr>
            <a:r>
              <a:rPr lang="en-US" sz="1400" dirty="0" err="1">
                <a:effectLst/>
                <a:ea typeface="Arial" panose="020B0604020202020204" pitchFamily="34" charset="0"/>
              </a:rPr>
              <a:t>xdsh</a:t>
            </a:r>
            <a:r>
              <a:rPr lang="en-US" sz="1400" dirty="0">
                <a:effectLst/>
                <a:ea typeface="Arial" panose="020B0604020202020204" pitchFamily="34" charset="0"/>
              </a:rPr>
              <a:t> n095-n102 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umount</a:t>
            </a:r>
            <a:r>
              <a:rPr lang="en-US" sz="1400" dirty="0">
                <a:effectLst/>
                <a:ea typeface="Arial" panose="020B0604020202020204" pitchFamily="34" charset="0"/>
              </a:rPr>
              <a:t> -t 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lustre</a:t>
            </a:r>
            <a:r>
              <a:rPr lang="en-US" sz="1400" dirty="0">
                <a:effectLst/>
                <a:ea typeface="Arial" panose="020B0604020202020204" pitchFamily="34" charset="0"/>
              </a:rPr>
              <a:t> /home /scratch</a:t>
            </a:r>
          </a:p>
          <a:p>
            <a:pPr marL="114300" indent="0">
              <a:buNone/>
            </a:pPr>
            <a:r>
              <a:rPr lang="en-US" sz="1400" dirty="0" err="1">
                <a:effectLst/>
                <a:ea typeface="Arial" panose="020B0604020202020204" pitchFamily="34" charset="0"/>
              </a:rPr>
              <a:t>xdsh</a:t>
            </a:r>
            <a:r>
              <a:rPr lang="en-US" sz="1400" dirty="0">
                <a:effectLst/>
                <a:ea typeface="Arial" panose="020B0604020202020204" pitchFamily="34" charset="0"/>
              </a:rPr>
              <a:t> n001 “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df</a:t>
            </a:r>
            <a:r>
              <a:rPr lang="en-US" sz="1400" dirty="0">
                <a:effectLst/>
                <a:ea typeface="Arial" panose="020B0604020202020204" pitchFamily="34" charset="0"/>
              </a:rPr>
              <a:t> –h”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BB640-F14D-9619-C4BC-CD285EF62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31" y="2133600"/>
            <a:ext cx="672558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70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Backup/Restore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DB Tables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412617"/>
              </p:ext>
            </p:extLst>
          </p:nvPr>
        </p:nvGraphicFramePr>
        <p:xfrm>
          <a:off x="485030" y="1948069"/>
          <a:ext cx="8229600" cy="2166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C224B77-4DF8-8D1D-E650-5312DF80FE46}"/>
              </a:ext>
            </a:extLst>
          </p:cNvPr>
          <p:cNvGrpSpPr/>
          <p:nvPr/>
        </p:nvGrpSpPr>
        <p:grpSpPr>
          <a:xfrm>
            <a:off x="2862945" y="4421045"/>
            <a:ext cx="5806301" cy="1487150"/>
            <a:chOff x="2423298" y="63947"/>
            <a:chExt cx="5806301" cy="1487150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3F87AE09-9298-9AB6-B1C7-16FB0ECC42C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: Top Corners Rounded 4">
              <a:extLst>
                <a:ext uri="{FF2B5EF4-FFF2-40B4-BE49-F238E27FC236}">
                  <a16:creationId xmlns:a16="http://schemas.microsoft.com/office/drawing/2014/main" id="{2F2F4A8D-F0D4-CE1B-05C8-4F5DEA41648F}"/>
                </a:ext>
              </a:extLst>
            </p:cNvPr>
            <p:cNvSpPr txBox="1"/>
            <p:nvPr/>
          </p:nvSpPr>
          <p:spPr>
            <a:xfrm>
              <a:off x="2423299" y="136543"/>
              <a:ext cx="5733704" cy="13419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restorexCATdb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Restore all 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xCAT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db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tables from CSV files under specified directory</a:t>
              </a:r>
            </a:p>
            <a:p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-To restore the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xCAT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database </a:t>
              </a:r>
              <a:r>
                <a:rPr lang="en-US" sz="1400" u="sng" dirty="0">
                  <a:solidFill>
                    <a:schemeClr val="accent1">
                      <a:lumMod val="75000"/>
                    </a:schemeClr>
                  </a:solidFill>
                </a:rPr>
                <a:t>from backup directory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, including the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auditlog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and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eventlog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enter:</a:t>
              </a:r>
            </a:p>
            <a:p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restorexCATdb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-a -p </a:t>
              </a:r>
              <a:r>
                <a:rPr lang="en-US" sz="1400" dirty="0"/>
                <a:t>/home/share/scripts/</a:t>
              </a:r>
              <a:r>
                <a:rPr lang="en-US" sz="1400" dirty="0" err="1"/>
                <a:t>xCAT</a:t>
              </a:r>
              <a:r>
                <a:rPr lang="en-US" sz="1400" dirty="0"/>
                <a:t>/hpcxcat-dump-yy-dd-mm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8F791-CA3B-2A92-8CBC-B1D9010B152A}"/>
              </a:ext>
            </a:extLst>
          </p:cNvPr>
          <p:cNvGrpSpPr/>
          <p:nvPr/>
        </p:nvGrpSpPr>
        <p:grpSpPr>
          <a:xfrm>
            <a:off x="474753" y="4385638"/>
            <a:ext cx="2421624" cy="1557962"/>
            <a:chOff x="35106" y="28540"/>
            <a:chExt cx="2421624" cy="155796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936BD0E-95A4-C41D-00FD-E9E35F29B62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E2815886-CD6C-F220-70B1-FD1FC04F318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Restore: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6494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Cleanup retired Nodes on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70587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Keep a backups of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DB and DHCP/DNS configuration before removing entries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dumpxCATdb</a:t>
            </a:r>
            <a:r>
              <a:rPr lang="en-US" sz="1500" dirty="0"/>
              <a:t> -a -p "/home/share/scripts/</a:t>
            </a:r>
            <a:r>
              <a:rPr lang="en-US" sz="1500" dirty="0" err="1"/>
              <a:t>xCAT</a:t>
            </a:r>
            <a:r>
              <a:rPr lang="en-US" sz="1500" dirty="0"/>
              <a:t>/hpcxcat-dump_mmddyy</a:t>
            </a:r>
          </a:p>
          <a:p>
            <a:pPr marL="114300" indent="0">
              <a:buNone/>
            </a:pPr>
            <a:r>
              <a:rPr lang="en-US" sz="1500" dirty="0"/>
              <a:t>&gt; cp –pr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dhcp</a:t>
            </a:r>
            <a:r>
              <a:rPr lang="en-US" sz="1500" dirty="0"/>
              <a:t>/</a:t>
            </a:r>
            <a:r>
              <a:rPr lang="en-US" sz="1500" dirty="0" err="1"/>
              <a:t>dhcpd.conf</a:t>
            </a:r>
            <a:r>
              <a:rPr lang="en-US" sz="1500" dirty="0"/>
              <a:t>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dhcp</a:t>
            </a:r>
            <a:r>
              <a:rPr lang="en-US" sz="1500" dirty="0"/>
              <a:t>/</a:t>
            </a:r>
            <a:r>
              <a:rPr lang="en-US" sz="1500" dirty="0" err="1"/>
              <a:t>dhcpd.conf_mmddyy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cp –pr /</a:t>
            </a:r>
            <a:r>
              <a:rPr lang="en-US" sz="1500" dirty="0" err="1"/>
              <a:t>etc</a:t>
            </a:r>
            <a:r>
              <a:rPr lang="en-US" sz="1500" dirty="0"/>
              <a:t>/hosts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hosts_mmddyy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cp –pr /var/lib/</a:t>
            </a:r>
            <a:r>
              <a:rPr lang="en-US" sz="1500" dirty="0" err="1"/>
              <a:t>dhcpd</a:t>
            </a:r>
            <a:r>
              <a:rPr lang="en-US" sz="1500" dirty="0"/>
              <a:t>/</a:t>
            </a:r>
            <a:r>
              <a:rPr lang="en-US" sz="1500" dirty="0" err="1"/>
              <a:t>dhcpd.leases</a:t>
            </a:r>
            <a:r>
              <a:rPr lang="en-US" sz="1500" dirty="0"/>
              <a:t> /var/lib/</a:t>
            </a:r>
            <a:r>
              <a:rPr lang="en-US" sz="1500" dirty="0" err="1"/>
              <a:t>dhcpd</a:t>
            </a:r>
            <a:r>
              <a:rPr lang="en-US" sz="1500" dirty="0"/>
              <a:t>/</a:t>
            </a:r>
            <a:r>
              <a:rPr lang="en-US" sz="1500" dirty="0" err="1"/>
              <a:t>dhcpd.lease_mmddyy</a:t>
            </a:r>
            <a:endParaRPr lang="en-US" sz="15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DNS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makedns</a:t>
            </a:r>
            <a:r>
              <a:rPr lang="en-US" sz="1500" dirty="0"/>
              <a:t> –d </a:t>
            </a:r>
            <a:r>
              <a:rPr lang="en-US" sz="1500" dirty="0" err="1"/>
              <a:t>nodename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makehosts</a:t>
            </a:r>
            <a:r>
              <a:rPr lang="en-US" sz="1500" dirty="0"/>
              <a:t> (to update /</a:t>
            </a:r>
            <a:r>
              <a:rPr lang="en-US" sz="1500" dirty="0" err="1"/>
              <a:t>etc</a:t>
            </a:r>
            <a:r>
              <a:rPr lang="en-US" sz="1500" dirty="0"/>
              <a:t>/hosts file)</a:t>
            </a:r>
          </a:p>
          <a:p>
            <a:pPr marL="114300" indent="0">
              <a:buNone/>
            </a:pPr>
            <a:r>
              <a:rPr lang="en-US" sz="1500" dirty="0"/>
              <a:t>&gt; Restart “named” services if entries not removed from DNS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DHCP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makedhcp</a:t>
            </a:r>
            <a:r>
              <a:rPr lang="en-US" sz="1500" dirty="0"/>
              <a:t> –d </a:t>
            </a:r>
            <a:r>
              <a:rPr lang="en-US" sz="1500" dirty="0" err="1"/>
              <a:t>nodename</a:t>
            </a:r>
            <a:endParaRPr lang="en-US" sz="15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rmdef</a:t>
            </a:r>
            <a:r>
              <a:rPr lang="en-US" sz="1500" dirty="0"/>
              <a:t> –t node </a:t>
            </a:r>
            <a:r>
              <a:rPr lang="en-US" sz="1500" dirty="0" err="1"/>
              <a:t>nodename</a:t>
            </a: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46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Additional Material about </a:t>
            </a:r>
            <a:r>
              <a:rPr lang="en-US" sz="40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2DAD559-EBC3-13E1-E47E-C7F811FE1F37}"/>
              </a:ext>
            </a:extLst>
          </p:cNvPr>
          <p:cNvSpPr txBox="1">
            <a:spLocks/>
          </p:cNvSpPr>
          <p:nvPr/>
        </p:nvSpPr>
        <p:spPr>
          <a:xfrm>
            <a:off x="429368" y="2149236"/>
            <a:ext cx="8229600" cy="411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28823-E7ED-2236-8EE5-2317150534D8}"/>
              </a:ext>
            </a:extLst>
          </p:cNvPr>
          <p:cNvSpPr txBox="1"/>
          <p:nvPr/>
        </p:nvSpPr>
        <p:spPr>
          <a:xfrm>
            <a:off x="457200" y="2149236"/>
            <a:ext cx="8173936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Guide: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https://xcat-docs.readthedocs.io/en/latest/guides/admin-guides/basic_concepts/xcat_db/index.html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https://sourceforge.net/p/xcat/wiki/Listing_and_Modifying_the_Database/#node-group-support-in-the-xcat-tables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https://sourceforge.net/p/xcat/wiki/Listing_and_Modifying_the_Database/#database-commands-and-tables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https://xcat-docs.readthedocs.io/en/latest/guides/admin-guides/basic_concepts/xcat_object/node.html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https://xcat-docs.readthedocs.io/en/stable/guides/admin-guides/references/man7/node.7.html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https://xcat-docs.readthedocs.io/en/latest/guides/admin-guides/basic_concepts/xcat_object/group.html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https://xcat-docs.readthedocs.io/en/latest/guides/admin-guides/references/man7/group.7.html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https://xcat-docs.readthedocs.io/en/stable/guides/admin-guides/basic_concepts/xcat_object/osimage.html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https://xcat-docs.readthedocs.io/en/latest/guides/admin-guides/references/man7/osimage.7.html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https://xcat-docs.readthedocs.io/en/stable/guides/admin-guides/references/man8/makedhcp.8.html?highlight=makedhcp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https://xcat-docs.readthedocs.io/en/stable/guides/admin-guides/references/man8/makedns.8.html?highlight=makedns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https://xcat-docs.readthedocs.io/en/stable/guides/admin-guides/manage_clusters/ppc64le/diskless/copy_image.html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https://xcat-docs.readthedocs.io/en/stable/guides/admin-guides/manage_clusters/ppc64le/diskless/gen_image.html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https://xcat-docs.readthedocs.io/en/stable/guides/admin-guides/manage_clusters/ppc64le/diskless/customize_image/postscript_execution.html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https://xcat-docs.readthedocs.io/en/latest/guides/admin-guides/references/man1/genimage.1.html?highlight=genimage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https://xcat-docs.readthedocs.io/en/latest/guides/admin-guides/references/man1/packimage.1.html?highlight=packimage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https://xcat-docs.readthedocs.io/en/latest/guides/admin-guides/references/man8/nodeset.8.html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https://xcat-docs.readthedocs.io/en/latest/guides/admin-guides/references/man1/rpower.1.html?highlight=rpower</a:t>
            </a:r>
          </a:p>
          <a:p>
            <a:pPr algn="l"/>
            <a:r>
              <a:rPr 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https://xcat-docs.readthedocs.io/en/stable/guides/admin-guides/references/man1/dumpxCATdb.1.html</a:t>
            </a:r>
          </a:p>
          <a:p>
            <a:pPr algn="l"/>
            <a:r>
              <a:rPr 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https://xcat-docs.readthedocs.io/en/stable/guides/admin-guides/references/man1/restorexCATdb.1.html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91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Questions &amp; Answers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B565D4C2-2DBF-A5B1-2D73-ED22B6F2B4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63" r="44972" b="1"/>
          <a:stretch/>
        </p:blipFill>
        <p:spPr>
          <a:xfrm>
            <a:off x="429369" y="2002056"/>
            <a:ext cx="2957886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CEA9F-1CA8-5555-9DE8-58FFAA3D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819400"/>
            <a:ext cx="2759633" cy="25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5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5A6AB1BCCA50439688E4381039B3CD" ma:contentTypeVersion="18" ma:contentTypeDescription="Create a new document." ma:contentTypeScope="" ma:versionID="f86e124cf6426f05885769aabeffc8b1">
  <xsd:schema xmlns:xsd="http://www.w3.org/2001/XMLSchema" xmlns:xs="http://www.w3.org/2001/XMLSchema" xmlns:p="http://schemas.microsoft.com/office/2006/metadata/properties" xmlns:ns2="5a8d5522-e36c-40c2-95b8-699fc33e72dc" xmlns:ns3="cdfd2b14-4ddf-46f1-8c40-737b1ef1f87c" targetNamespace="http://schemas.microsoft.com/office/2006/metadata/properties" ma:root="true" ma:fieldsID="c7b1750ecfaf95735369798aa437edd2" ns2:_="" ns3:_="">
    <xsd:import namespace="5a8d5522-e36c-40c2-95b8-699fc33e72dc"/>
    <xsd:import namespace="cdfd2b14-4ddf-46f1-8c40-737b1ef1f8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8d5522-e36c-40c2-95b8-699fc33e7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91af29b-e898-46cd-ad54-75745d14b3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d2b14-4ddf-46f1-8c40-737b1ef1f87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4f3f31-2764-4fc5-814d-5f6d4ee1b9c5}" ma:internalName="TaxCatchAll" ma:showField="CatchAllData" ma:web="cdfd2b14-4ddf-46f1-8c40-737b1ef1f8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fd2b14-4ddf-46f1-8c40-737b1ef1f87c" xsi:nil="true"/>
    <lcf76f155ced4ddcb4097134ff3c332f xmlns="5a8d5522-e36c-40c2-95b8-699fc33e72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6396B1-FDC0-420C-BB6F-3D567B4600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8d5522-e36c-40c2-95b8-699fc33e72dc"/>
    <ds:schemaRef ds:uri="cdfd2b14-4ddf-46f1-8c40-737b1ef1f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AB2E3A-6F9C-480D-958A-FB305FA00C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3E1F36-3464-45D0-8CB8-52A9CA74E340}">
  <ds:schemaRefs>
    <ds:schemaRef ds:uri="http://schemas.microsoft.com/office/2006/metadata/properties"/>
    <ds:schemaRef ds:uri="http://schemas.microsoft.com/office/infopath/2007/PartnerControls"/>
    <ds:schemaRef ds:uri="cdfd2b14-4ddf-46f1-8c40-737b1ef1f87c"/>
    <ds:schemaRef ds:uri="5a8d5522-e36c-40c2-95b8-699fc33e72d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7397</TotalTime>
  <Words>5167</Words>
  <Application>Microsoft Office PowerPoint</Application>
  <PresentationFormat>On-screen Show (4:3)</PresentationFormat>
  <Paragraphs>547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Courier New</vt:lpstr>
      <vt:lpstr>Lato</vt:lpstr>
      <vt:lpstr>Roboto</vt:lpstr>
      <vt:lpstr>Office Theme</vt:lpstr>
      <vt:lpstr>PowerPoint Presentation</vt:lpstr>
      <vt:lpstr>HPC Management Nodes </vt:lpstr>
      <vt:lpstr>Role of xCAT </vt:lpstr>
      <vt:lpstr>xCAT Installation </vt:lpstr>
      <vt:lpstr>xCAT Installation </vt:lpstr>
      <vt:lpstr>xCAT stop/start scripts </vt:lpstr>
      <vt:lpstr>xCAT Configuration </vt:lpstr>
      <vt:lpstr>xCAT Architecture </vt:lpstr>
      <vt:lpstr>xCAT – Basic Concepts </vt:lpstr>
      <vt:lpstr>xCAT – Manipulate DB Tables/Objects </vt:lpstr>
      <vt:lpstr>xCAT - Global Configuration </vt:lpstr>
      <vt:lpstr>xCAT - Global Configuration </vt:lpstr>
      <vt:lpstr>xCAT – Objects Definitions </vt:lpstr>
      <vt:lpstr>xCAT – Node Objects </vt:lpstr>
      <vt:lpstr>PowerPoint Presentation</vt:lpstr>
      <vt:lpstr>PowerPoint Presentation</vt:lpstr>
      <vt:lpstr>xCAT – OSimage Objects </vt:lpstr>
      <vt:lpstr>xCAT – OSimage Objects </vt:lpstr>
      <vt:lpstr>xCAT – DHCP &amp; DNS Configuration </vt:lpstr>
      <vt:lpstr>xCAT - Create repository for additional packages under /install/post/otherpkgs</vt:lpstr>
      <vt:lpstr>xCAT Diskless Installation (RAMdisk-based)</vt:lpstr>
      <vt:lpstr>Preparing new compute node  for xCAT provisioning</vt:lpstr>
      <vt:lpstr>Adding new compute node/group definitions in xCAT</vt:lpstr>
      <vt:lpstr>Update DHCP &amp; DNS with  new compute node </vt:lpstr>
      <vt:lpstr>Set the boot state for the node/noderange </vt:lpstr>
      <vt:lpstr>xCAT Node Installation Process </vt:lpstr>
      <vt:lpstr>Parallel Commands from  xCAT Management node </vt:lpstr>
      <vt:lpstr>xCAT – Backup/Restore xCAT DB Tables </vt:lpstr>
      <vt:lpstr>Cleanup retired Nodes on xCAT </vt:lpstr>
      <vt:lpstr>  Additional Material about xCAT </vt:lpstr>
      <vt:lpstr>Questions &amp; Answers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sbaylard</dc:creator>
  <cp:lastModifiedBy>Student</cp:lastModifiedBy>
  <cp:revision>436</cp:revision>
  <cp:lastPrinted>2023-07-19T16:00:54Z</cp:lastPrinted>
  <dcterms:created xsi:type="dcterms:W3CDTF">2013-11-25T14:55:33Z</dcterms:created>
  <dcterms:modified xsi:type="dcterms:W3CDTF">2026-06-03T14:38:13Z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0x010100FC5A6AB1BCCA50439688E4381039B3CD</vt:lpwstr>
  </property>
  <property fmtid="{D5CDD505-2E9C-101B-9397-08002B2CF9AE}" pid="3" name="MediaServiceImageTags">
    <vt:lpwstr/>
  </property>
  <property fmtid="{D5CDD505-2E9C-101B-9397-08002B2CF9AE}" pid="4" name="MSIP_Label_055b6ed3-49d9-4c8b-b721-6e88a1f26c44_Enabled">
    <vt:lpwstr>true</vt:lpwstr>
  </property>
  <property fmtid="{D5CDD505-2E9C-101B-9397-08002B2CF9AE}" pid="5" name="MSIP_Label_055b6ed3-49d9-4c8b-b721-6e88a1f26c44_SetDate">
    <vt:lpwstr>2026-06-01T18:33:04Z</vt:lpwstr>
  </property>
  <property fmtid="{D5CDD505-2E9C-101B-9397-08002B2CF9AE}" pid="6" name="MSIP_Label_055b6ed3-49d9-4c8b-b721-6e88a1f26c44_Method">
    <vt:lpwstr>Standard</vt:lpwstr>
  </property>
  <property fmtid="{D5CDD505-2E9C-101B-9397-08002B2CF9AE}" pid="7" name="MSIP_Label_055b6ed3-49d9-4c8b-b721-6e88a1f26c44_Name">
    <vt:lpwstr>Internal or Private Data</vt:lpwstr>
  </property>
  <property fmtid="{D5CDD505-2E9C-101B-9397-08002B2CF9AE}" pid="8" name="MSIP_Label_055b6ed3-49d9-4c8b-b721-6e88a1f26c44_SiteId">
    <vt:lpwstr>ac79e5a8-e0e4-434b-a292-2c89b5c28366</vt:lpwstr>
  </property>
  <property fmtid="{D5CDD505-2E9C-101B-9397-08002B2CF9AE}" pid="9" name="MSIP_Label_055b6ed3-49d9-4c8b-b721-6e88a1f26c44_ActionId">
    <vt:lpwstr>5ef2d83e-bf44-4453-9f96-e449ad0cef45</vt:lpwstr>
  </property>
  <property fmtid="{D5CDD505-2E9C-101B-9397-08002B2CF9AE}" pid="10" name="MSIP_Label_055b6ed3-49d9-4c8b-b721-6e88a1f26c44_ContentBits">
    <vt:lpwstr>2</vt:lpwstr>
  </property>
  <property fmtid="{D5CDD505-2E9C-101B-9397-08002B2CF9AE}" pid="11" name="MSIP_Label_055b6ed3-49d9-4c8b-b721-6e88a1f26c44_Tag">
    <vt:lpwstr>10, 3, 0, 2</vt:lpwstr>
  </property>
  <property fmtid="{D5CDD505-2E9C-101B-9397-08002B2CF9AE}" pid="12" name="ClassificationContentMarkingFooterLocations">
    <vt:lpwstr>Office Theme:8</vt:lpwstr>
  </property>
  <property fmtid="{D5CDD505-2E9C-101B-9397-08002B2CF9AE}" pid="13" name="ClassificationContentMarkingFooterText">
    <vt:lpwstr>FIU - Internal Data</vt:lpwstr>
  </property>
</Properties>
</file>